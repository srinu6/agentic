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2739"/>
          </a:solidFill>
          <a:ln w="12700">
            <a:solidFill>
              <a:srgbClr val="1F2739"/>
            </a:solidFill>
            <a:prstDash val="solid"/>
          </a:ln>
        </p:spPr>
      </p:sp>
      <p:sp>
        <p:nvSpPr>
          <p:cNvPr id="3" name="Shape 1"/>
          <p:cNvSpPr/>
          <p:nvPr/>
        </p:nvSpPr>
        <p:spPr>
          <a:xfrm>
            <a:off x="0" y="0"/>
            <a:ext cx="594360" cy="6858000"/>
          </a:xfrm>
          <a:prstGeom prst="rect">
            <a:avLst/>
          </a:prstGeom>
          <a:solidFill>
            <a:srgbClr val="E95332"/>
          </a:solidFill>
          <a:ln w="12700">
            <a:solidFill>
              <a:srgbClr val="E95332"/>
            </a:solidFill>
            <a:prstDash val="solid"/>
          </a:ln>
        </p:spPr>
      </p:sp>
      <p:sp>
        <p:nvSpPr>
          <p:cNvPr id="4" name="Shape 2"/>
          <p:cNvSpPr/>
          <p:nvPr/>
        </p:nvSpPr>
        <p:spPr>
          <a:xfrm>
            <a:off x="11430000" y="0"/>
            <a:ext cx="758952" cy="6858000"/>
          </a:xfrm>
          <a:prstGeom prst="rect">
            <a:avLst/>
          </a:prstGeom>
          <a:solidFill>
            <a:srgbClr val="0A0F1C"/>
          </a:solidFill>
          <a:ln w="12700">
            <a:solidFill>
              <a:srgbClr val="0A0F1C"/>
            </a:solidFill>
            <a:prstDash val="solid"/>
          </a:ln>
        </p:spPr>
      </p:sp>
      <p:sp>
        <p:nvSpPr>
          <p:cNvPr id="5" name="Text 3"/>
          <p:cNvSpPr txBox="1"/>
          <p:nvPr/>
        </p:nvSpPr>
        <p:spPr>
          <a:xfrm>
            <a:off x="11448288" y="182880"/>
            <a:ext cx="713232" cy="1828800"/>
          </a:xfrm>
          <a:prstGeom prst="rect">
            <a:avLst/>
          </a:prstGeom>
          <a:noFill/>
          <a:ln/>
        </p:spPr>
        <p:txBody>
          <a:bodyPr wrap="square" lIns="0" tIns="0" rIns="0" bIns="0" rtlCol="0" anchor="ctr"/>
          <a:lstStyle/>
          <a:p>
            <a:pPr algn="ctr" indent="0" marL="0">
              <a:buNone/>
            </a:pPr>
            <a:r>
              <a:rPr lang="en-US" sz="1000" b="1" dirty="0">
                <a:solidFill>
                  <a:srgbClr val="E95332"/>
                </a:solidFill>
              </a:rPr>
              <a:t>STA
</a:t>
            </a:r>
            <a:pPr algn="ctr" indent="0" marL="0">
              <a:buNone/>
            </a:pPr>
            <a:r>
              <a:rPr lang="en-US" sz="1000" b="1" dirty="0">
                <a:solidFill>
                  <a:srgbClr val="E95332"/>
                </a:solidFill>
              </a:rPr>
              <a:t>CK
</a:t>
            </a:r>
            <a:pPr algn="ctr" indent="0" marL="0">
              <a:buNone/>
            </a:pPr>
            <a:r>
              <a:rPr lang="en-US" sz="700" b="1" dirty="0">
                <a:solidFill>
                  <a:srgbClr val="E95332"/>
                </a:solidFill>
              </a:rPr>
              <a:t>ROUTE
</a:t>
            </a:r>
            <a:pPr algn="ctr" indent="0" marL="0">
              <a:buNone/>
            </a:pPr>
            <a:r>
              <a:rPr lang="en-US" sz="600" dirty="0">
                <a:solidFill>
                  <a:srgbClr val="FFFFFF"/>
                </a:solidFill>
              </a:rPr>
              <a:t>AN
</a:t>
            </a:r>
            <a:pPr algn="ctr" indent="0" marL="0">
              <a:buNone/>
            </a:pPr>
            <a:r>
              <a:rPr lang="en-US" sz="800" b="1" dirty="0">
                <a:solidFill>
                  <a:srgbClr val="FFFFFF"/>
                </a:solidFill>
              </a:rPr>
              <a:t>NIIT
</a:t>
            </a:r>
            <a:pPr algn="ctr" indent="0" marL="0">
              <a:buNone/>
            </a:pPr>
            <a:r>
              <a:rPr lang="en-US" sz="500" dirty="0">
                <a:solidFill>
                  <a:srgbClr val="FFFFFF"/>
                </a:solidFill>
              </a:rPr>
              <a:t>VENTURE</a:t>
            </a:r>
            <a:endParaRPr lang="en-US" sz="1000" dirty="0"/>
          </a:p>
        </p:txBody>
      </p:sp>
      <p:sp>
        <p:nvSpPr>
          <p:cNvPr id="6" name="Text 4"/>
          <p:cNvSpPr txBox="1"/>
          <p:nvPr/>
        </p:nvSpPr>
        <p:spPr>
          <a:xfrm>
            <a:off x="914400" y="1280160"/>
            <a:ext cx="10058400" cy="1005840"/>
          </a:xfrm>
          <a:prstGeom prst="rect">
            <a:avLst/>
          </a:prstGeom>
          <a:noFill/>
          <a:ln/>
        </p:spPr>
        <p:txBody>
          <a:bodyPr wrap="square" rtlCol="0" anchor="ctr"/>
          <a:lstStyle/>
          <a:p>
            <a:pPr algn="ctr" indent="0" marL="0">
              <a:buNone/>
            </a:pPr>
            <a:r>
              <a:rPr lang="en-US" sz="4600" b="1" dirty="0">
                <a:solidFill>
                  <a:srgbClr val="E95332"/>
                </a:solidFill>
                <a:latin typeface="Candara" pitchFamily="34" charset="0"/>
                <a:ea typeface="Candara" pitchFamily="34" charset="-122"/>
                <a:cs typeface="Candara" pitchFamily="34" charset="-120"/>
              </a:rPr>
              <a:t>EU AI Act + MITRE ATLAS</a:t>
            </a:r>
            <a:endParaRPr lang="en-US" sz="4600" dirty="0"/>
          </a:p>
        </p:txBody>
      </p:sp>
      <p:sp>
        <p:nvSpPr>
          <p:cNvPr id="7" name="Text 5"/>
          <p:cNvSpPr txBox="1"/>
          <p:nvPr/>
        </p:nvSpPr>
        <p:spPr>
          <a:xfrm>
            <a:off x="914400" y="2468880"/>
            <a:ext cx="10058400" cy="548640"/>
          </a:xfrm>
          <a:prstGeom prst="rect">
            <a:avLst/>
          </a:prstGeom>
          <a:noFill/>
          <a:ln/>
        </p:spPr>
        <p:txBody>
          <a:bodyPr wrap="square" rtlCol="0" anchor="ctr"/>
          <a:lstStyle/>
          <a:p>
            <a:pPr algn="ctr" indent="0" marL="0">
              <a:buNone/>
            </a:pPr>
            <a:r>
              <a:rPr lang="en-US" sz="2000" dirty="0">
                <a:solidFill>
                  <a:srgbClr val="FFFFFF"/>
                </a:solidFill>
              </a:rPr>
              <a:t>AI Governance, Security &amp; Compliance Framework</a:t>
            </a:r>
            <a:endParaRPr lang="en-US" sz="2000" dirty="0"/>
          </a:p>
        </p:txBody>
      </p:sp>
      <p:sp>
        <p:nvSpPr>
          <p:cNvPr id="8" name="Shape 6"/>
          <p:cNvSpPr/>
          <p:nvPr/>
        </p:nvSpPr>
        <p:spPr>
          <a:xfrm>
            <a:off x="2286000" y="3154680"/>
            <a:ext cx="7616952" cy="0"/>
          </a:xfrm>
          <a:prstGeom prst="line">
            <a:avLst/>
          </a:prstGeom>
          <a:noFill/>
          <a:ln w="12700">
            <a:solidFill>
              <a:srgbClr val="E95332"/>
            </a:solidFill>
            <a:prstDash val="solid"/>
          </a:ln>
        </p:spPr>
      </p:sp>
      <p:sp>
        <p:nvSpPr>
          <p:cNvPr id="9" name="Text 7"/>
          <p:cNvSpPr txBox="1"/>
          <p:nvPr/>
        </p:nvSpPr>
        <p:spPr>
          <a:xfrm>
            <a:off x="914400" y="3337560"/>
            <a:ext cx="10058400" cy="365760"/>
          </a:xfrm>
          <a:prstGeom prst="rect">
            <a:avLst/>
          </a:prstGeom>
          <a:noFill/>
          <a:ln/>
        </p:spPr>
        <p:txBody>
          <a:bodyPr wrap="square" rtlCol="0" anchor="ctr"/>
          <a:lstStyle/>
          <a:p>
            <a:pPr algn="ctr" indent="0" marL="0">
              <a:buNone/>
            </a:pPr>
            <a:r>
              <a:rPr lang="en-US" sz="1300" dirty="0">
                <a:solidFill>
                  <a:srgbClr val="6B7280"/>
                </a:solidFill>
              </a:rPr>
              <a:t>EU Regulation 2024/1689 · MITRE ATLAS v5.4.0 · August 2026</a:t>
            </a:r>
            <a:endParaRPr lang="en-US" sz="1300" dirty="0"/>
          </a:p>
        </p:txBody>
      </p:sp>
      <p:sp>
        <p:nvSpPr>
          <p:cNvPr id="10" name="Text 8"/>
          <p:cNvSpPr txBox="1"/>
          <p:nvPr/>
        </p:nvSpPr>
        <p:spPr>
          <a:xfrm>
            <a:off x="914400" y="3794760"/>
            <a:ext cx="10058400" cy="347472"/>
          </a:xfrm>
          <a:prstGeom prst="rect">
            <a:avLst/>
          </a:prstGeom>
          <a:noFill/>
          <a:ln/>
        </p:spPr>
        <p:txBody>
          <a:bodyPr wrap="square" rtlCol="0" anchor="ctr"/>
          <a:lstStyle/>
          <a:p>
            <a:pPr algn="ctr" indent="0" marL="0">
              <a:buNone/>
            </a:pPr>
            <a:r>
              <a:rPr lang="en-US" sz="1200" dirty="0">
                <a:solidFill>
                  <a:srgbClr val="E95332"/>
                </a:solidFill>
              </a:rPr>
              <a:t>AI &amp; SEO Automation Mastery  |  Enterprise AI Governance Track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2739"/>
          </a:solidFill>
          <a:ln w="12700">
            <a:solidFill>
              <a:srgbClr val="1F2739"/>
            </a:solidFill>
            <a:prstDash val="solid"/>
          </a:ln>
        </p:spPr>
      </p:sp>
      <p:sp>
        <p:nvSpPr>
          <p:cNvPr id="3" name="Shape 1"/>
          <p:cNvSpPr/>
          <p:nvPr/>
        </p:nvSpPr>
        <p:spPr>
          <a:xfrm>
            <a:off x="0" y="0"/>
            <a:ext cx="594360" cy="6858000"/>
          </a:xfrm>
          <a:prstGeom prst="rect">
            <a:avLst/>
          </a:prstGeom>
          <a:solidFill>
            <a:srgbClr val="E95332"/>
          </a:solidFill>
          <a:ln w="12700">
            <a:solidFill>
              <a:srgbClr val="E95332"/>
            </a:solidFill>
            <a:prstDash val="solid"/>
          </a:ln>
        </p:spPr>
      </p:sp>
      <p:sp>
        <p:nvSpPr>
          <p:cNvPr id="4" name="Text 2"/>
          <p:cNvSpPr txBox="1"/>
          <p:nvPr/>
        </p:nvSpPr>
        <p:spPr>
          <a:xfrm>
            <a:off x="11448288" y="182880"/>
            <a:ext cx="713232" cy="1828800"/>
          </a:xfrm>
          <a:prstGeom prst="rect">
            <a:avLst/>
          </a:prstGeom>
          <a:noFill/>
          <a:ln/>
        </p:spPr>
        <p:txBody>
          <a:bodyPr wrap="square" lIns="0" tIns="0" rIns="0" bIns="0" rtlCol="0" anchor="ctr"/>
          <a:lstStyle/>
          <a:p>
            <a:pPr algn="ctr" indent="0" marL="0">
              <a:buNone/>
            </a:pPr>
            <a:r>
              <a:rPr lang="en-US" sz="1000" b="1" dirty="0">
                <a:solidFill>
                  <a:srgbClr val="E95332"/>
                </a:solidFill>
              </a:rPr>
              <a:t>STA
</a:t>
            </a:r>
            <a:pPr algn="ctr" indent="0" marL="0">
              <a:buNone/>
            </a:pPr>
            <a:r>
              <a:rPr lang="en-US" sz="1000" b="1" dirty="0">
                <a:solidFill>
                  <a:srgbClr val="E95332"/>
                </a:solidFill>
              </a:rPr>
              <a:t>CK
</a:t>
            </a:r>
            <a:pPr algn="ctr" indent="0" marL="0">
              <a:buNone/>
            </a:pPr>
            <a:r>
              <a:rPr lang="en-US" sz="700" b="1" dirty="0">
                <a:solidFill>
                  <a:srgbClr val="E95332"/>
                </a:solidFill>
              </a:rPr>
              <a:t>ROUTE
</a:t>
            </a:r>
            <a:pPr algn="ctr" indent="0" marL="0">
              <a:buNone/>
            </a:pPr>
            <a:r>
              <a:rPr lang="en-US" sz="600" dirty="0">
                <a:solidFill>
                  <a:srgbClr val="FFFFFF"/>
                </a:solidFill>
              </a:rPr>
              <a:t>AN
</a:t>
            </a:r>
            <a:pPr algn="ctr" indent="0" marL="0">
              <a:buNone/>
            </a:pPr>
            <a:r>
              <a:rPr lang="en-US" sz="800" b="1" dirty="0">
                <a:solidFill>
                  <a:srgbClr val="FFFFFF"/>
                </a:solidFill>
              </a:rPr>
              <a:t>NIIT
</a:t>
            </a:r>
            <a:pPr algn="ctr" indent="0" marL="0">
              <a:buNone/>
            </a:pPr>
            <a:r>
              <a:rPr lang="en-US" sz="500" dirty="0">
                <a:solidFill>
                  <a:srgbClr val="FFFFFF"/>
                </a:solidFill>
              </a:rPr>
              <a:t>VENTURE</a:t>
            </a:r>
            <a:endParaRPr lang="en-US" sz="1000" dirty="0"/>
          </a:p>
        </p:txBody>
      </p:sp>
      <p:sp>
        <p:nvSpPr>
          <p:cNvPr id="5" name="Text 3"/>
          <p:cNvSpPr txBox="1"/>
          <p:nvPr/>
        </p:nvSpPr>
        <p:spPr>
          <a:xfrm>
            <a:off x="914400" y="2194560"/>
            <a:ext cx="10058400" cy="914400"/>
          </a:xfrm>
          <a:prstGeom prst="rect">
            <a:avLst/>
          </a:prstGeom>
          <a:noFill/>
          <a:ln/>
        </p:spPr>
        <p:txBody>
          <a:bodyPr wrap="square" rtlCol="0" anchor="ctr"/>
          <a:lstStyle/>
          <a:p>
            <a:pPr algn="ctr" indent="0" marL="0">
              <a:buNone/>
            </a:pPr>
            <a:r>
              <a:rPr lang="en-US" sz="4000" b="1" dirty="0">
                <a:solidFill>
                  <a:srgbClr val="E95332"/>
                </a:solidFill>
                <a:latin typeface="Candara" pitchFamily="34" charset="0"/>
                <a:ea typeface="Candara" pitchFamily="34" charset="-122"/>
                <a:cs typeface="Candara" pitchFamily="34" charset="-120"/>
              </a:rPr>
              <a:t>THE EU AI ACT</a:t>
            </a:r>
            <a:endParaRPr lang="en-US" sz="4000" dirty="0"/>
          </a:p>
        </p:txBody>
      </p:sp>
      <p:sp>
        <p:nvSpPr>
          <p:cNvPr id="6" name="Text 4"/>
          <p:cNvSpPr txBox="1"/>
          <p:nvPr/>
        </p:nvSpPr>
        <p:spPr>
          <a:xfrm>
            <a:off x="914400" y="3246120"/>
            <a:ext cx="10058400" cy="548640"/>
          </a:xfrm>
          <a:prstGeom prst="rect">
            <a:avLst/>
          </a:prstGeom>
          <a:noFill/>
          <a:ln/>
        </p:spPr>
        <p:txBody>
          <a:bodyPr wrap="square" rtlCol="0" anchor="ctr"/>
          <a:lstStyle/>
          <a:p>
            <a:pPr algn="ctr" indent="0" marL="0">
              <a:buNone/>
            </a:pPr>
            <a:r>
              <a:rPr lang="en-US" sz="1800" dirty="0">
                <a:solidFill>
                  <a:srgbClr val="FFFFFF"/>
                </a:solidFill>
              </a:rPr>
              <a:t>World's First Comprehensive AI Regulation · In Force Aug 2024</a:t>
            </a:r>
            <a:endParaRPr lang="en-US" sz="1800" dirty="0"/>
          </a:p>
        </p:txBody>
      </p:sp>
      <p:sp>
        <p:nvSpPr>
          <p:cNvPr id="7" name="Text 5"/>
          <p:cNvSpPr txBox="1"/>
          <p:nvPr/>
        </p:nvSpPr>
        <p:spPr>
          <a:xfrm>
            <a:off x="914400" y="6309360"/>
            <a:ext cx="10058400" cy="274320"/>
          </a:xfrm>
          <a:prstGeom prst="rect">
            <a:avLst/>
          </a:prstGeom>
          <a:noFill/>
          <a:ln/>
        </p:spPr>
        <p:txBody>
          <a:bodyPr wrap="square" rtlCol="0" anchor="ctr"/>
          <a:lstStyle/>
          <a:p>
            <a:pPr algn="ctr" indent="0" marL="0">
              <a:buNone/>
            </a:pPr>
            <a:r>
              <a:rPr lang="en-US" sz="800" dirty="0">
                <a:solidFill>
                  <a:srgbClr val="8B949E"/>
                </a:solidFill>
              </a:rPr>
              <a:t>© NIIT-StackRoute 2025-2026</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E95332"/>
          </a:solidFill>
          <a:ln w="12700">
            <a:solidFill>
              <a:srgbClr val="E95332"/>
            </a:solidFill>
            <a:prstDash val="solid"/>
          </a:ln>
        </p:spPr>
      </p:sp>
      <p:sp>
        <p:nvSpPr>
          <p:cNvPr id="3" name="Shape 1"/>
          <p:cNvSpPr/>
          <p:nvPr/>
        </p:nvSpPr>
        <p:spPr>
          <a:xfrm>
            <a:off x="11430000" y="0"/>
            <a:ext cx="758952" cy="6858000"/>
          </a:xfrm>
          <a:prstGeom prst="rect">
            <a:avLst/>
          </a:prstGeom>
          <a:solidFill>
            <a:srgbClr val="1F2739"/>
          </a:solidFill>
          <a:ln w="12700">
            <a:solidFill>
              <a:srgbClr val="1F2739"/>
            </a:solidFill>
            <a:prstDash val="solid"/>
          </a:ln>
        </p:spPr>
      </p:sp>
      <p:sp>
        <p:nvSpPr>
          <p:cNvPr id="4" name="Text 2"/>
          <p:cNvSpPr txBox="1"/>
          <p:nvPr/>
        </p:nvSpPr>
        <p:spPr>
          <a:xfrm>
            <a:off x="11448288" y="137160"/>
            <a:ext cx="731520" cy="1463040"/>
          </a:xfrm>
          <a:prstGeom prst="rect">
            <a:avLst/>
          </a:prstGeom>
          <a:noFill/>
          <a:ln/>
        </p:spPr>
        <p:txBody>
          <a:bodyPr wrap="square" lIns="0" tIns="0" rIns="0" bIns="0" rtlCol="0" anchor="ctr"/>
          <a:lstStyle/>
          <a:p>
            <a:pPr algn="ctr" indent="0" marL="0">
              <a:buNone/>
            </a:pPr>
            <a:r>
              <a:rPr lang="en-US" sz="800" b="1" dirty="0">
                <a:solidFill>
                  <a:srgbClr val="E95332"/>
                </a:solidFill>
              </a:rPr>
              <a:t>STA
</a:t>
            </a:r>
            <a:pPr algn="ctr" indent="0" marL="0">
              <a:buNone/>
            </a:pPr>
            <a:r>
              <a:rPr lang="en-US" sz="800" b="1" dirty="0">
                <a:solidFill>
                  <a:srgbClr val="E95332"/>
                </a:solidFill>
              </a:rPr>
              <a:t>CK
</a:t>
            </a:r>
            <a:pPr algn="ctr" indent="0" marL="0">
              <a:buNone/>
            </a:pPr>
            <a:r>
              <a:rPr lang="en-US" sz="600" b="1" dirty="0">
                <a:solidFill>
                  <a:srgbClr val="E95332"/>
                </a:solidFill>
              </a:rPr>
              <a:t>ROUTE
</a:t>
            </a:r>
            <a:pPr algn="ctr" indent="0" marL="0">
              <a:buNone/>
            </a:pPr>
            <a:r>
              <a:rPr lang="en-US" sz="500" dirty="0">
                <a:solidFill>
                  <a:srgbClr val="FFFFFF"/>
                </a:solidFill>
              </a:rPr>
              <a:t>AN
</a:t>
            </a:r>
            <a:pPr algn="ctr" indent="0" marL="0">
              <a:buNone/>
            </a:pPr>
            <a:r>
              <a:rPr lang="en-US" sz="700" b="1" dirty="0">
                <a:solidFill>
                  <a:srgbClr val="FFFFFF"/>
                </a:solidFill>
              </a:rPr>
              <a:t>NIIT
</a:t>
            </a:r>
            <a:pPr algn="ctr" indent="0" marL="0">
              <a:buNone/>
            </a:pPr>
            <a:r>
              <a:rPr lang="en-US" sz="400" dirty="0">
                <a:solidFill>
                  <a:srgbClr val="FFFFFF"/>
                </a:solidFill>
              </a:rPr>
              <a:t>VENTURE</a:t>
            </a:r>
            <a:endParaRPr lang="en-US" sz="800" dirty="0"/>
          </a:p>
        </p:txBody>
      </p:sp>
      <p:sp>
        <p:nvSpPr>
          <p:cNvPr id="5" name="Text 3"/>
          <p:cNvSpPr txBox="1"/>
          <p:nvPr/>
        </p:nvSpPr>
        <p:spPr>
          <a:xfrm>
            <a:off x="274320" y="6309360"/>
            <a:ext cx="10881360" cy="228600"/>
          </a:xfrm>
          <a:prstGeom prst="rect">
            <a:avLst/>
          </a:prstGeom>
          <a:noFill/>
          <a:ln/>
        </p:spPr>
        <p:txBody>
          <a:bodyPr wrap="square" rtlCol="0" anchor="ctr"/>
          <a:lstStyle/>
          <a:p>
            <a:pPr indent="0" marL="0">
              <a:buNone/>
            </a:pPr>
            <a:r>
              <a:rPr lang="en-US" sz="600" dirty="0">
                <a:solidFill>
                  <a:srgbClr val="8B949E"/>
                </a:solidFill>
              </a:rPr>
              <a:t>Confidential – Intellectual Property of NIIT Ltd. | © NIIT-StackRoute 2025-2026</a:t>
            </a:r>
            <a:endParaRPr lang="en-US" sz="600" dirty="0"/>
          </a:p>
        </p:txBody>
      </p:sp>
      <p:sp>
        <p:nvSpPr>
          <p:cNvPr id="6" name="Text 4"/>
          <p:cNvSpPr txBox="1"/>
          <p:nvPr/>
        </p:nvSpPr>
        <p:spPr>
          <a:xfrm>
            <a:off x="320040" y="164592"/>
            <a:ext cx="10789920" cy="502920"/>
          </a:xfrm>
          <a:prstGeom prst="rect">
            <a:avLst/>
          </a:prstGeom>
          <a:noFill/>
          <a:ln/>
        </p:spPr>
        <p:txBody>
          <a:bodyPr wrap="square" rtlCol="0" anchor="ctr"/>
          <a:lstStyle/>
          <a:p>
            <a:pPr indent="0" marL="0">
              <a:buNone/>
            </a:pPr>
            <a:r>
              <a:rPr lang="en-US" sz="2400" b="1" dirty="0">
                <a:solidFill>
                  <a:srgbClr val="E95332"/>
                </a:solidFill>
                <a:latin typeface="Candara" pitchFamily="34" charset="0"/>
                <a:ea typeface="Candara" pitchFamily="34" charset="-122"/>
                <a:cs typeface="Candara" pitchFamily="34" charset="-120"/>
              </a:rPr>
              <a:t>What is the EU AI Act?</a:t>
            </a:r>
            <a:endParaRPr lang="en-US" sz="2400" dirty="0"/>
          </a:p>
        </p:txBody>
      </p:sp>
      <p:sp>
        <p:nvSpPr>
          <p:cNvPr id="7" name="Shape 5"/>
          <p:cNvSpPr/>
          <p:nvPr/>
        </p:nvSpPr>
        <p:spPr>
          <a:xfrm>
            <a:off x="320040" y="694944"/>
            <a:ext cx="10789920" cy="18288"/>
          </a:xfrm>
          <a:prstGeom prst="rect">
            <a:avLst/>
          </a:prstGeom>
          <a:solidFill>
            <a:srgbClr val="E95332"/>
          </a:solidFill>
          <a:ln w="12700">
            <a:solidFill>
              <a:srgbClr val="E95332"/>
            </a:solidFill>
            <a:prstDash val="solid"/>
          </a:ln>
        </p:spPr>
      </p:sp>
      <p:sp>
        <p:nvSpPr>
          <p:cNvPr id="8" name="Shape 6"/>
          <p:cNvSpPr/>
          <p:nvPr/>
        </p:nvSpPr>
        <p:spPr>
          <a:xfrm>
            <a:off x="320040" y="841248"/>
            <a:ext cx="10789920" cy="841248"/>
          </a:xfrm>
          <a:prstGeom prst="roundRect">
            <a:avLst>
              <a:gd name="adj" fmla="val 7609"/>
            </a:avLst>
          </a:prstGeom>
          <a:solidFill>
            <a:srgbClr val="EEF2FF"/>
          </a:solidFill>
          <a:ln w="12700">
            <a:solidFill>
              <a:srgbClr val="BFD0FF"/>
            </a:solidFill>
            <a:prstDash val="solid"/>
          </a:ln>
        </p:spPr>
      </p:sp>
      <p:sp>
        <p:nvSpPr>
          <p:cNvPr id="9" name="Text 7"/>
          <p:cNvSpPr txBox="1"/>
          <p:nvPr/>
        </p:nvSpPr>
        <p:spPr>
          <a:xfrm>
            <a:off x="457200" y="877824"/>
            <a:ext cx="10515600" cy="768096"/>
          </a:xfrm>
          <a:prstGeom prst="rect">
            <a:avLst/>
          </a:prstGeom>
          <a:noFill/>
          <a:ln/>
        </p:spPr>
        <p:txBody>
          <a:bodyPr wrap="square" lIns="0" tIns="0" rIns="0" bIns="0" rtlCol="0" anchor="ctr"/>
          <a:lstStyle/>
          <a:p>
            <a:pPr indent="0" marL="0">
              <a:lnSpc>
                <a:spcPts val="1600"/>
              </a:lnSpc>
              <a:buNone/>
            </a:pPr>
            <a:r>
              <a:rPr lang="en-US" sz="1200" dirty="0">
                <a:solidFill>
                  <a:srgbClr val="374151"/>
                </a:solidFill>
              </a:rPr>
              <a:t>The EU AI Act (Regulation 2024/1689) is the world's first comprehensive AI regulation — in force 1 Aug 2024. It classifies every AI system by risk level and assigns binding obligations. Like GDPR, it applies to any organisation serving the EU market, regardless of where they are based. Maximum fine: €35M or 7% of global annual revenue — higher than GDPR.</a:t>
            </a:r>
            <a:endParaRPr lang="en-US" sz="1200" dirty="0"/>
          </a:p>
        </p:txBody>
      </p:sp>
      <p:sp>
        <p:nvSpPr>
          <p:cNvPr id="10" name="Shape 8"/>
          <p:cNvSpPr/>
          <p:nvPr/>
        </p:nvSpPr>
        <p:spPr>
          <a:xfrm>
            <a:off x="320040" y="1773936"/>
            <a:ext cx="3383280" cy="384048"/>
          </a:xfrm>
          <a:prstGeom prst="roundRect">
            <a:avLst>
              <a:gd name="adj" fmla="val 19048"/>
            </a:avLst>
          </a:prstGeom>
          <a:solidFill>
            <a:srgbClr val="2563EB"/>
          </a:solidFill>
          <a:ln w="12700">
            <a:solidFill>
              <a:srgbClr val="2563EB"/>
            </a:solidFill>
            <a:prstDash val="solid"/>
          </a:ln>
        </p:spPr>
      </p:sp>
      <p:sp>
        <p:nvSpPr>
          <p:cNvPr id="11" name="Text 9"/>
          <p:cNvSpPr txBox="1"/>
          <p:nvPr/>
        </p:nvSpPr>
        <p:spPr>
          <a:xfrm>
            <a:off x="411480" y="1801368"/>
            <a:ext cx="3200400" cy="329184"/>
          </a:xfrm>
          <a:prstGeom prst="rect">
            <a:avLst/>
          </a:prstGeom>
          <a:noFill/>
          <a:ln/>
        </p:spPr>
        <p:txBody>
          <a:bodyPr wrap="square" lIns="0" tIns="0" rIns="0" bIns="0" rtlCol="0" anchor="ctr"/>
          <a:lstStyle/>
          <a:p>
            <a:pPr algn="ctr" indent="0" marL="0">
              <a:buNone/>
            </a:pPr>
            <a:r>
              <a:rPr lang="en-US" sz="1200" b="1" dirty="0">
                <a:solidFill>
                  <a:srgbClr val="FFFFFF"/>
                </a:solidFill>
              </a:rPr>
              <a:t>Origin &amp; Scope</a:t>
            </a:r>
            <a:endParaRPr lang="en-US" sz="1200" dirty="0"/>
          </a:p>
        </p:txBody>
      </p:sp>
      <p:sp>
        <p:nvSpPr>
          <p:cNvPr id="12" name="Shape 10"/>
          <p:cNvSpPr/>
          <p:nvPr/>
        </p:nvSpPr>
        <p:spPr>
          <a:xfrm>
            <a:off x="320040" y="2231136"/>
            <a:ext cx="3383280" cy="3657600"/>
          </a:xfrm>
          <a:prstGeom prst="roundRect">
            <a:avLst>
              <a:gd name="adj" fmla="val 1892"/>
            </a:avLst>
          </a:prstGeom>
          <a:solidFill>
            <a:srgbClr val="F5F5F5"/>
          </a:solidFill>
          <a:ln w="12700">
            <a:solidFill>
              <a:srgbClr val="D1D5DB"/>
            </a:solidFill>
            <a:prstDash val="solid"/>
          </a:ln>
        </p:spPr>
      </p:sp>
      <p:sp>
        <p:nvSpPr>
          <p:cNvPr id="13" name="Text 11"/>
          <p:cNvSpPr txBox="1"/>
          <p:nvPr/>
        </p:nvSpPr>
        <p:spPr>
          <a:xfrm>
            <a:off x="429768" y="232257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Proposed 2021 · Entered into force 1 Aug 2024</a:t>
            </a:r>
            <a:endParaRPr lang="en-US" sz="1050" dirty="0"/>
          </a:p>
        </p:txBody>
      </p:sp>
      <p:sp>
        <p:nvSpPr>
          <p:cNvPr id="14" name="Text 12"/>
          <p:cNvSpPr txBox="1"/>
          <p:nvPr/>
        </p:nvSpPr>
        <p:spPr>
          <a:xfrm>
            <a:off x="429768" y="296265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Applies to providers, deployers and importers of AI</a:t>
            </a:r>
            <a:endParaRPr lang="en-US" sz="1050" dirty="0"/>
          </a:p>
        </p:txBody>
      </p:sp>
      <p:sp>
        <p:nvSpPr>
          <p:cNvPr id="15" name="Text 13"/>
          <p:cNvSpPr txBox="1"/>
          <p:nvPr/>
        </p:nvSpPr>
        <p:spPr>
          <a:xfrm>
            <a:off x="429768" y="360273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Covers any AI used or affecting EU individuals</a:t>
            </a:r>
            <a:endParaRPr lang="en-US" sz="1050" dirty="0"/>
          </a:p>
        </p:txBody>
      </p:sp>
      <p:sp>
        <p:nvSpPr>
          <p:cNvPr id="16" name="Text 14"/>
          <p:cNvSpPr txBox="1"/>
          <p:nvPr/>
        </p:nvSpPr>
        <p:spPr>
          <a:xfrm>
            <a:off x="429768" y="424281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Extraterritorial — like GDPR, geography of developer is irrelevant</a:t>
            </a:r>
            <a:endParaRPr lang="en-US" sz="1050" dirty="0"/>
          </a:p>
        </p:txBody>
      </p:sp>
      <p:sp>
        <p:nvSpPr>
          <p:cNvPr id="17" name="Text 15"/>
          <p:cNvSpPr txBox="1"/>
          <p:nvPr/>
        </p:nvSpPr>
        <p:spPr>
          <a:xfrm>
            <a:off x="429768" y="488289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Enforced by national market surveillance authorities + EU AI Office</a:t>
            </a:r>
            <a:endParaRPr lang="en-US" sz="1050" dirty="0"/>
          </a:p>
        </p:txBody>
      </p:sp>
      <p:sp>
        <p:nvSpPr>
          <p:cNvPr id="18" name="Shape 16"/>
          <p:cNvSpPr/>
          <p:nvPr/>
        </p:nvSpPr>
        <p:spPr>
          <a:xfrm>
            <a:off x="3913632" y="1773936"/>
            <a:ext cx="3383280" cy="384048"/>
          </a:xfrm>
          <a:prstGeom prst="roundRect">
            <a:avLst>
              <a:gd name="adj" fmla="val 19048"/>
            </a:avLst>
          </a:prstGeom>
          <a:solidFill>
            <a:srgbClr val="E95332"/>
          </a:solidFill>
          <a:ln w="12700">
            <a:solidFill>
              <a:srgbClr val="E95332"/>
            </a:solidFill>
            <a:prstDash val="solid"/>
          </a:ln>
        </p:spPr>
      </p:sp>
      <p:sp>
        <p:nvSpPr>
          <p:cNvPr id="19" name="Text 17"/>
          <p:cNvSpPr txBox="1"/>
          <p:nvPr/>
        </p:nvSpPr>
        <p:spPr>
          <a:xfrm>
            <a:off x="4005072" y="1801368"/>
            <a:ext cx="3200400" cy="329184"/>
          </a:xfrm>
          <a:prstGeom prst="rect">
            <a:avLst/>
          </a:prstGeom>
          <a:noFill/>
          <a:ln/>
        </p:spPr>
        <p:txBody>
          <a:bodyPr wrap="square" lIns="0" tIns="0" rIns="0" bIns="0" rtlCol="0" anchor="ctr"/>
          <a:lstStyle/>
          <a:p>
            <a:pPr algn="ctr" indent="0" marL="0">
              <a:buNone/>
            </a:pPr>
            <a:r>
              <a:rPr lang="en-US" sz="1200" b="1" dirty="0">
                <a:solidFill>
                  <a:srgbClr val="FFFFFF"/>
                </a:solidFill>
              </a:rPr>
              <a:t>Risk-Based Approach</a:t>
            </a:r>
            <a:endParaRPr lang="en-US" sz="1200" dirty="0"/>
          </a:p>
        </p:txBody>
      </p:sp>
      <p:sp>
        <p:nvSpPr>
          <p:cNvPr id="20" name="Shape 18"/>
          <p:cNvSpPr/>
          <p:nvPr/>
        </p:nvSpPr>
        <p:spPr>
          <a:xfrm>
            <a:off x="3913632" y="2231136"/>
            <a:ext cx="3383280" cy="3657600"/>
          </a:xfrm>
          <a:prstGeom prst="roundRect">
            <a:avLst>
              <a:gd name="adj" fmla="val 1892"/>
            </a:avLst>
          </a:prstGeom>
          <a:solidFill>
            <a:srgbClr val="F5F5F5"/>
          </a:solidFill>
          <a:ln w="12700">
            <a:solidFill>
              <a:srgbClr val="D1D5DB"/>
            </a:solidFill>
            <a:prstDash val="solid"/>
          </a:ln>
        </p:spPr>
      </p:sp>
      <p:sp>
        <p:nvSpPr>
          <p:cNvPr id="21" name="Text 19"/>
          <p:cNvSpPr txBox="1"/>
          <p:nvPr/>
        </p:nvSpPr>
        <p:spPr>
          <a:xfrm>
            <a:off x="4023360" y="232257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4 risk tiers: Unacceptable · High · Limited · Minimal</a:t>
            </a:r>
            <a:endParaRPr lang="en-US" sz="1050" dirty="0"/>
          </a:p>
        </p:txBody>
      </p:sp>
      <p:sp>
        <p:nvSpPr>
          <p:cNvPr id="22" name="Text 20"/>
          <p:cNvSpPr txBox="1"/>
          <p:nvPr/>
        </p:nvSpPr>
        <p:spPr>
          <a:xfrm>
            <a:off x="4023360" y="296265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Unacceptable = banned outright · High = regulated</a:t>
            </a:r>
            <a:endParaRPr lang="en-US" sz="1050" dirty="0"/>
          </a:p>
        </p:txBody>
      </p:sp>
      <p:sp>
        <p:nvSpPr>
          <p:cNvPr id="23" name="Text 21"/>
          <p:cNvSpPr txBox="1"/>
          <p:nvPr/>
        </p:nvSpPr>
        <p:spPr>
          <a:xfrm>
            <a:off x="4023360" y="360273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Limited = transparency disclosures · Minimal = no obligations</a:t>
            </a:r>
            <a:endParaRPr lang="en-US" sz="1050" dirty="0"/>
          </a:p>
        </p:txBody>
      </p:sp>
      <p:sp>
        <p:nvSpPr>
          <p:cNvPr id="24" name="Text 22"/>
          <p:cNvSpPr txBox="1"/>
          <p:nvPr/>
        </p:nvSpPr>
        <p:spPr>
          <a:xfrm>
            <a:off x="4023360" y="424281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Risk tier determines which articles and annexes apply</a:t>
            </a:r>
            <a:endParaRPr lang="en-US" sz="1050" dirty="0"/>
          </a:p>
        </p:txBody>
      </p:sp>
      <p:sp>
        <p:nvSpPr>
          <p:cNvPr id="25" name="Text 23"/>
          <p:cNvSpPr txBox="1"/>
          <p:nvPr/>
        </p:nvSpPr>
        <p:spPr>
          <a:xfrm>
            <a:off x="4023360" y="488289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Providers must self-assess tier before market placement</a:t>
            </a:r>
            <a:endParaRPr lang="en-US" sz="1050" dirty="0"/>
          </a:p>
        </p:txBody>
      </p:sp>
      <p:sp>
        <p:nvSpPr>
          <p:cNvPr id="26" name="Shape 24"/>
          <p:cNvSpPr/>
          <p:nvPr/>
        </p:nvSpPr>
        <p:spPr>
          <a:xfrm>
            <a:off x="7507224" y="1773936"/>
            <a:ext cx="3383280" cy="384048"/>
          </a:xfrm>
          <a:prstGeom prst="roundRect">
            <a:avLst>
              <a:gd name="adj" fmla="val 19048"/>
            </a:avLst>
          </a:prstGeom>
          <a:solidFill>
            <a:srgbClr val="16A34A"/>
          </a:solidFill>
          <a:ln w="12700">
            <a:solidFill>
              <a:srgbClr val="16A34A"/>
            </a:solidFill>
            <a:prstDash val="solid"/>
          </a:ln>
        </p:spPr>
      </p:sp>
      <p:sp>
        <p:nvSpPr>
          <p:cNvPr id="27" name="Text 25"/>
          <p:cNvSpPr txBox="1"/>
          <p:nvPr/>
        </p:nvSpPr>
        <p:spPr>
          <a:xfrm>
            <a:off x="7598664" y="1801368"/>
            <a:ext cx="3200400" cy="329184"/>
          </a:xfrm>
          <a:prstGeom prst="rect">
            <a:avLst/>
          </a:prstGeom>
          <a:noFill/>
          <a:ln/>
        </p:spPr>
        <p:txBody>
          <a:bodyPr wrap="square" lIns="0" tIns="0" rIns="0" bIns="0" rtlCol="0" anchor="ctr"/>
          <a:lstStyle/>
          <a:p>
            <a:pPr algn="ctr" indent="0" marL="0">
              <a:buNone/>
            </a:pPr>
            <a:r>
              <a:rPr lang="en-US" sz="1200" b="1" dirty="0">
                <a:solidFill>
                  <a:srgbClr val="FFFFFF"/>
                </a:solidFill>
              </a:rPr>
              <a:t>Governance Architecture</a:t>
            </a:r>
            <a:endParaRPr lang="en-US" sz="1200" dirty="0"/>
          </a:p>
        </p:txBody>
      </p:sp>
      <p:sp>
        <p:nvSpPr>
          <p:cNvPr id="28" name="Shape 26"/>
          <p:cNvSpPr/>
          <p:nvPr/>
        </p:nvSpPr>
        <p:spPr>
          <a:xfrm>
            <a:off x="7507224" y="2231136"/>
            <a:ext cx="3383280" cy="3657600"/>
          </a:xfrm>
          <a:prstGeom prst="roundRect">
            <a:avLst>
              <a:gd name="adj" fmla="val 1892"/>
            </a:avLst>
          </a:prstGeom>
          <a:solidFill>
            <a:srgbClr val="F5F5F5"/>
          </a:solidFill>
          <a:ln w="12700">
            <a:solidFill>
              <a:srgbClr val="D1D5DB"/>
            </a:solidFill>
            <a:prstDash val="solid"/>
          </a:ln>
        </p:spPr>
      </p:sp>
      <p:sp>
        <p:nvSpPr>
          <p:cNvPr id="29" name="Text 27"/>
          <p:cNvSpPr txBox="1"/>
          <p:nvPr/>
        </p:nvSpPr>
        <p:spPr>
          <a:xfrm>
            <a:off x="7616952" y="232257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EU AI Office: oversees GPAI models and systemic risks</a:t>
            </a:r>
            <a:endParaRPr lang="en-US" sz="1050" dirty="0"/>
          </a:p>
        </p:txBody>
      </p:sp>
      <p:sp>
        <p:nvSpPr>
          <p:cNvPr id="30" name="Text 28"/>
          <p:cNvSpPr txBox="1"/>
          <p:nvPr/>
        </p:nvSpPr>
        <p:spPr>
          <a:xfrm>
            <a:off x="7616952" y="296265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AI Board: national supervisory authorities</a:t>
            </a:r>
            <a:endParaRPr lang="en-US" sz="1050" dirty="0"/>
          </a:p>
        </p:txBody>
      </p:sp>
      <p:sp>
        <p:nvSpPr>
          <p:cNvPr id="31" name="Text 29"/>
          <p:cNvSpPr txBox="1"/>
          <p:nvPr/>
        </p:nvSpPr>
        <p:spPr>
          <a:xfrm>
            <a:off x="7616952" y="360273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Advisory Forum: technical expertise to Commission</a:t>
            </a:r>
            <a:endParaRPr lang="en-US" sz="1050" dirty="0"/>
          </a:p>
        </p:txBody>
      </p:sp>
      <p:sp>
        <p:nvSpPr>
          <p:cNvPr id="32" name="Text 30"/>
          <p:cNvSpPr txBox="1"/>
          <p:nvPr/>
        </p:nvSpPr>
        <p:spPr>
          <a:xfrm>
            <a:off x="7616952" y="424281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Scientific Panel: independent experts for model evaluation</a:t>
            </a:r>
            <a:endParaRPr lang="en-US" sz="1050" dirty="0"/>
          </a:p>
        </p:txBody>
      </p:sp>
      <p:sp>
        <p:nvSpPr>
          <p:cNvPr id="33" name="Text 31"/>
          <p:cNvSpPr txBox="1"/>
          <p:nvPr/>
        </p:nvSpPr>
        <p:spPr>
          <a:xfrm>
            <a:off x="7616952" y="4882896"/>
            <a:ext cx="3163824" cy="548640"/>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National competent authorities: high-risk AI supervision</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E95332"/>
          </a:solidFill>
          <a:ln w="12700">
            <a:solidFill>
              <a:srgbClr val="E95332"/>
            </a:solidFill>
            <a:prstDash val="solid"/>
          </a:ln>
        </p:spPr>
      </p:sp>
      <p:sp>
        <p:nvSpPr>
          <p:cNvPr id="3" name="Shape 1"/>
          <p:cNvSpPr/>
          <p:nvPr/>
        </p:nvSpPr>
        <p:spPr>
          <a:xfrm>
            <a:off x="11430000" y="0"/>
            <a:ext cx="758952" cy="6858000"/>
          </a:xfrm>
          <a:prstGeom prst="rect">
            <a:avLst/>
          </a:prstGeom>
          <a:solidFill>
            <a:srgbClr val="1F2739"/>
          </a:solidFill>
          <a:ln w="12700">
            <a:solidFill>
              <a:srgbClr val="1F2739"/>
            </a:solidFill>
            <a:prstDash val="solid"/>
          </a:ln>
        </p:spPr>
      </p:sp>
      <p:sp>
        <p:nvSpPr>
          <p:cNvPr id="4" name="Text 2"/>
          <p:cNvSpPr txBox="1"/>
          <p:nvPr/>
        </p:nvSpPr>
        <p:spPr>
          <a:xfrm>
            <a:off x="11448288" y="137160"/>
            <a:ext cx="731520" cy="1463040"/>
          </a:xfrm>
          <a:prstGeom prst="rect">
            <a:avLst/>
          </a:prstGeom>
          <a:noFill/>
          <a:ln/>
        </p:spPr>
        <p:txBody>
          <a:bodyPr wrap="square" lIns="0" tIns="0" rIns="0" bIns="0" rtlCol="0" anchor="ctr"/>
          <a:lstStyle/>
          <a:p>
            <a:pPr algn="ctr" indent="0" marL="0">
              <a:buNone/>
            </a:pPr>
            <a:r>
              <a:rPr lang="en-US" sz="800" b="1" dirty="0">
                <a:solidFill>
                  <a:srgbClr val="E95332"/>
                </a:solidFill>
              </a:rPr>
              <a:t>STA
</a:t>
            </a:r>
            <a:pPr algn="ctr" indent="0" marL="0">
              <a:buNone/>
            </a:pPr>
            <a:r>
              <a:rPr lang="en-US" sz="800" b="1" dirty="0">
                <a:solidFill>
                  <a:srgbClr val="E95332"/>
                </a:solidFill>
              </a:rPr>
              <a:t>CK
</a:t>
            </a:r>
            <a:pPr algn="ctr" indent="0" marL="0">
              <a:buNone/>
            </a:pPr>
            <a:r>
              <a:rPr lang="en-US" sz="600" b="1" dirty="0">
                <a:solidFill>
                  <a:srgbClr val="E95332"/>
                </a:solidFill>
              </a:rPr>
              <a:t>ROUTE
</a:t>
            </a:r>
            <a:pPr algn="ctr" indent="0" marL="0">
              <a:buNone/>
            </a:pPr>
            <a:r>
              <a:rPr lang="en-US" sz="500" dirty="0">
                <a:solidFill>
                  <a:srgbClr val="FFFFFF"/>
                </a:solidFill>
              </a:rPr>
              <a:t>AN
</a:t>
            </a:r>
            <a:pPr algn="ctr" indent="0" marL="0">
              <a:buNone/>
            </a:pPr>
            <a:r>
              <a:rPr lang="en-US" sz="700" b="1" dirty="0">
                <a:solidFill>
                  <a:srgbClr val="FFFFFF"/>
                </a:solidFill>
              </a:rPr>
              <a:t>NIIT
</a:t>
            </a:r>
            <a:pPr algn="ctr" indent="0" marL="0">
              <a:buNone/>
            </a:pPr>
            <a:r>
              <a:rPr lang="en-US" sz="400" dirty="0">
                <a:solidFill>
                  <a:srgbClr val="FFFFFF"/>
                </a:solidFill>
              </a:rPr>
              <a:t>VENTURE</a:t>
            </a:r>
            <a:endParaRPr lang="en-US" sz="800" dirty="0"/>
          </a:p>
        </p:txBody>
      </p:sp>
      <p:sp>
        <p:nvSpPr>
          <p:cNvPr id="5" name="Text 3"/>
          <p:cNvSpPr txBox="1"/>
          <p:nvPr/>
        </p:nvSpPr>
        <p:spPr>
          <a:xfrm>
            <a:off x="274320" y="6309360"/>
            <a:ext cx="10881360" cy="228600"/>
          </a:xfrm>
          <a:prstGeom prst="rect">
            <a:avLst/>
          </a:prstGeom>
          <a:noFill/>
          <a:ln/>
        </p:spPr>
        <p:txBody>
          <a:bodyPr wrap="square" rtlCol="0" anchor="ctr"/>
          <a:lstStyle/>
          <a:p>
            <a:pPr indent="0" marL="0">
              <a:buNone/>
            </a:pPr>
            <a:r>
              <a:rPr lang="en-US" sz="600" dirty="0">
                <a:solidFill>
                  <a:srgbClr val="8B949E"/>
                </a:solidFill>
              </a:rPr>
              <a:t>Confidential – Intellectual Property of NIIT Ltd. | © NIIT-StackRoute 2025-2026</a:t>
            </a:r>
            <a:endParaRPr lang="en-US" sz="600" dirty="0"/>
          </a:p>
        </p:txBody>
      </p:sp>
      <p:sp>
        <p:nvSpPr>
          <p:cNvPr id="6" name="Text 4"/>
          <p:cNvSpPr txBox="1"/>
          <p:nvPr/>
        </p:nvSpPr>
        <p:spPr>
          <a:xfrm>
            <a:off x="320040" y="164592"/>
            <a:ext cx="10789920" cy="502920"/>
          </a:xfrm>
          <a:prstGeom prst="rect">
            <a:avLst/>
          </a:prstGeom>
          <a:noFill/>
          <a:ln/>
        </p:spPr>
        <p:txBody>
          <a:bodyPr wrap="square" rtlCol="0" anchor="ctr"/>
          <a:lstStyle/>
          <a:p>
            <a:pPr indent="0" marL="0">
              <a:buNone/>
            </a:pPr>
            <a:r>
              <a:rPr lang="en-US" sz="2400" b="1" dirty="0">
                <a:solidFill>
                  <a:srgbClr val="E95332"/>
                </a:solidFill>
                <a:latin typeface="Candara" pitchFamily="34" charset="0"/>
                <a:ea typeface="Candara" pitchFamily="34" charset="-122"/>
                <a:cs typeface="Candara" pitchFamily="34" charset="-120"/>
              </a:rPr>
              <a:t>The 4-Level Risk Classification — Art. 5, 6, 50</a:t>
            </a:r>
            <a:endParaRPr lang="en-US" sz="2400" dirty="0"/>
          </a:p>
        </p:txBody>
      </p:sp>
      <p:sp>
        <p:nvSpPr>
          <p:cNvPr id="7" name="Shape 5"/>
          <p:cNvSpPr/>
          <p:nvPr/>
        </p:nvSpPr>
        <p:spPr>
          <a:xfrm>
            <a:off x="320040" y="694944"/>
            <a:ext cx="10789920" cy="18288"/>
          </a:xfrm>
          <a:prstGeom prst="rect">
            <a:avLst/>
          </a:prstGeom>
          <a:solidFill>
            <a:srgbClr val="E95332"/>
          </a:solidFill>
          <a:ln w="12700">
            <a:solidFill>
              <a:srgbClr val="E95332"/>
            </a:solidFill>
            <a:prstDash val="solid"/>
          </a:ln>
        </p:spPr>
      </p:sp>
      <p:sp>
        <p:nvSpPr>
          <p:cNvPr id="8" name="Shape 6"/>
          <p:cNvSpPr/>
          <p:nvPr/>
        </p:nvSpPr>
        <p:spPr>
          <a:xfrm>
            <a:off x="320040" y="914400"/>
            <a:ext cx="10789920" cy="1225296"/>
          </a:xfrm>
          <a:prstGeom prst="roundRect">
            <a:avLst>
              <a:gd name="adj" fmla="val 5970"/>
            </a:avLst>
          </a:prstGeom>
          <a:solidFill>
            <a:srgbClr val="FFF1F2"/>
          </a:solidFill>
          <a:ln w="12700">
            <a:solidFill>
              <a:srgbClr val="FCA5A5"/>
            </a:solidFill>
            <a:prstDash val="solid"/>
          </a:ln>
        </p:spPr>
      </p:sp>
      <p:sp>
        <p:nvSpPr>
          <p:cNvPr id="9" name="Shape 7"/>
          <p:cNvSpPr/>
          <p:nvPr/>
        </p:nvSpPr>
        <p:spPr>
          <a:xfrm>
            <a:off x="320040" y="914400"/>
            <a:ext cx="10789920" cy="320040"/>
          </a:xfrm>
          <a:prstGeom prst="roundRect">
            <a:avLst>
              <a:gd name="adj" fmla="val 22857"/>
            </a:avLst>
          </a:prstGeom>
          <a:solidFill>
            <a:srgbClr val="DC2626"/>
          </a:solidFill>
          <a:ln w="12700">
            <a:solidFill>
              <a:srgbClr val="DC2626"/>
            </a:solidFill>
            <a:prstDash val="solid"/>
          </a:ln>
        </p:spPr>
      </p:sp>
      <p:sp>
        <p:nvSpPr>
          <p:cNvPr id="10" name="Shape 8"/>
          <p:cNvSpPr/>
          <p:nvPr/>
        </p:nvSpPr>
        <p:spPr>
          <a:xfrm>
            <a:off x="320040" y="1115568"/>
            <a:ext cx="10789920" cy="118872"/>
          </a:xfrm>
          <a:prstGeom prst="rect">
            <a:avLst/>
          </a:prstGeom>
          <a:solidFill>
            <a:srgbClr val="DC2626"/>
          </a:solidFill>
          <a:ln w="12700">
            <a:solidFill>
              <a:srgbClr val="DC2626"/>
            </a:solidFill>
            <a:prstDash val="solid"/>
          </a:ln>
        </p:spPr>
      </p:sp>
      <p:sp>
        <p:nvSpPr>
          <p:cNvPr id="11" name="Text 9"/>
          <p:cNvSpPr txBox="1"/>
          <p:nvPr/>
        </p:nvSpPr>
        <p:spPr>
          <a:xfrm>
            <a:off x="457200" y="950976"/>
            <a:ext cx="8229600" cy="256032"/>
          </a:xfrm>
          <a:prstGeom prst="rect">
            <a:avLst/>
          </a:prstGeom>
          <a:noFill/>
          <a:ln/>
        </p:spPr>
        <p:txBody>
          <a:bodyPr wrap="square" lIns="0" tIns="0" rIns="0" bIns="0" rtlCol="0" anchor="ctr"/>
          <a:lstStyle/>
          <a:p>
            <a:pPr indent="0" marL="0">
              <a:buNone/>
            </a:pPr>
            <a:r>
              <a:rPr lang="en-US" sz="1100" b="1" dirty="0">
                <a:solidFill>
                  <a:srgbClr val="FFFFFF"/>
                </a:solidFill>
              </a:rPr>
              <a:t>🚫 UNACCEPTABLE RISK — BANNED (Art. 5)</a:t>
            </a:r>
            <a:endParaRPr lang="en-US" sz="1100" dirty="0"/>
          </a:p>
        </p:txBody>
      </p:sp>
      <p:sp>
        <p:nvSpPr>
          <p:cNvPr id="12" name="Text 10"/>
          <p:cNvSpPr txBox="1"/>
          <p:nvPr/>
        </p:nvSpPr>
        <p:spPr>
          <a:xfrm>
            <a:off x="8686800" y="969264"/>
            <a:ext cx="2286000" cy="219456"/>
          </a:xfrm>
          <a:prstGeom prst="rect">
            <a:avLst/>
          </a:prstGeom>
          <a:noFill/>
          <a:ln/>
        </p:spPr>
        <p:txBody>
          <a:bodyPr wrap="square" lIns="0" tIns="0" rIns="0" bIns="0" rtlCol="0" anchor="ctr"/>
          <a:lstStyle/>
          <a:p>
            <a:pPr algn="r" indent="0" marL="0">
              <a:buNone/>
            </a:pPr>
            <a:r>
              <a:rPr lang="en-US" sz="900" dirty="0">
                <a:solidFill>
                  <a:srgbClr val="FFFFFF"/>
                </a:solidFill>
              </a:rPr>
              <a:t>In force: 2 Feb 2025</a:t>
            </a:r>
            <a:endParaRPr lang="en-US" sz="900" dirty="0"/>
          </a:p>
        </p:txBody>
      </p:sp>
      <p:sp>
        <p:nvSpPr>
          <p:cNvPr id="13" name="Text 11"/>
          <p:cNvSpPr txBox="1"/>
          <p:nvPr/>
        </p:nvSpPr>
        <p:spPr>
          <a:xfrm>
            <a:off x="457200" y="1316736"/>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Social scoring by government authorities</a:t>
            </a:r>
            <a:endParaRPr lang="en-US" sz="950" dirty="0"/>
          </a:p>
        </p:txBody>
      </p:sp>
      <p:sp>
        <p:nvSpPr>
          <p:cNvPr id="14" name="Text 12"/>
          <p:cNvSpPr txBox="1"/>
          <p:nvPr/>
        </p:nvSpPr>
        <p:spPr>
          <a:xfrm>
            <a:off x="457200" y="1490472"/>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Real-time biometric surveillance in public spaces (narrow exceptions only)</a:t>
            </a:r>
            <a:endParaRPr lang="en-US" sz="950" dirty="0"/>
          </a:p>
        </p:txBody>
      </p:sp>
      <p:sp>
        <p:nvSpPr>
          <p:cNvPr id="15" name="Text 13"/>
          <p:cNvSpPr txBox="1"/>
          <p:nvPr/>
        </p:nvSpPr>
        <p:spPr>
          <a:xfrm>
            <a:off x="457200" y="1664208"/>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Subliminal / manipulative AI distorting behaviour</a:t>
            </a:r>
            <a:endParaRPr lang="en-US" sz="950" dirty="0"/>
          </a:p>
        </p:txBody>
      </p:sp>
      <p:sp>
        <p:nvSpPr>
          <p:cNvPr id="16" name="Text 14"/>
          <p:cNvSpPr txBox="1"/>
          <p:nvPr/>
        </p:nvSpPr>
        <p:spPr>
          <a:xfrm>
            <a:off x="3931920" y="1316736"/>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Emotion recognition in workplaces and educational institutions</a:t>
            </a:r>
            <a:endParaRPr lang="en-US" sz="950" dirty="0"/>
          </a:p>
        </p:txBody>
      </p:sp>
      <p:sp>
        <p:nvSpPr>
          <p:cNvPr id="17" name="Text 15"/>
          <p:cNvSpPr txBox="1"/>
          <p:nvPr/>
        </p:nvSpPr>
        <p:spPr>
          <a:xfrm>
            <a:off x="3931920" y="1490472"/>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Compiling facial recognition databases by scraping (Clearview AI pattern)</a:t>
            </a:r>
            <a:endParaRPr lang="en-US" sz="950" dirty="0"/>
          </a:p>
        </p:txBody>
      </p:sp>
      <p:sp>
        <p:nvSpPr>
          <p:cNvPr id="18" name="Text 16"/>
          <p:cNvSpPr txBox="1"/>
          <p:nvPr/>
        </p:nvSpPr>
        <p:spPr>
          <a:xfrm>
            <a:off x="3931920" y="1664208"/>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Predicting criminality from profiling / personality traits alone</a:t>
            </a:r>
            <a:endParaRPr lang="en-US" sz="950" dirty="0"/>
          </a:p>
        </p:txBody>
      </p:sp>
      <p:sp>
        <p:nvSpPr>
          <p:cNvPr id="19" name="Text 17"/>
          <p:cNvSpPr txBox="1"/>
          <p:nvPr/>
        </p:nvSpPr>
        <p:spPr>
          <a:xfrm>
            <a:off x="7406640" y="1316736"/>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Non-consensual intimate imagery (CSAM) — from Dec 2026</a:t>
            </a:r>
            <a:endParaRPr lang="en-US" sz="950" dirty="0"/>
          </a:p>
        </p:txBody>
      </p:sp>
      <p:sp>
        <p:nvSpPr>
          <p:cNvPr id="20" name="Shape 18"/>
          <p:cNvSpPr/>
          <p:nvPr/>
        </p:nvSpPr>
        <p:spPr>
          <a:xfrm>
            <a:off x="320040" y="2231136"/>
            <a:ext cx="10789920" cy="1225296"/>
          </a:xfrm>
          <a:prstGeom prst="roundRect">
            <a:avLst>
              <a:gd name="adj" fmla="val 5970"/>
            </a:avLst>
          </a:prstGeom>
          <a:solidFill>
            <a:srgbClr val="FFFBEB"/>
          </a:solidFill>
          <a:ln w="12700">
            <a:solidFill>
              <a:srgbClr val="FDE68A"/>
            </a:solidFill>
            <a:prstDash val="solid"/>
          </a:ln>
        </p:spPr>
      </p:sp>
      <p:sp>
        <p:nvSpPr>
          <p:cNvPr id="21" name="Shape 19"/>
          <p:cNvSpPr/>
          <p:nvPr/>
        </p:nvSpPr>
        <p:spPr>
          <a:xfrm>
            <a:off x="320040" y="2231136"/>
            <a:ext cx="10789920" cy="320040"/>
          </a:xfrm>
          <a:prstGeom prst="roundRect">
            <a:avLst>
              <a:gd name="adj" fmla="val 22857"/>
            </a:avLst>
          </a:prstGeom>
          <a:solidFill>
            <a:srgbClr val="D97706"/>
          </a:solidFill>
          <a:ln w="12700">
            <a:solidFill>
              <a:srgbClr val="D97706"/>
            </a:solidFill>
            <a:prstDash val="solid"/>
          </a:ln>
        </p:spPr>
      </p:sp>
      <p:sp>
        <p:nvSpPr>
          <p:cNvPr id="22" name="Shape 20"/>
          <p:cNvSpPr/>
          <p:nvPr/>
        </p:nvSpPr>
        <p:spPr>
          <a:xfrm>
            <a:off x="320040" y="2432304"/>
            <a:ext cx="10789920" cy="118872"/>
          </a:xfrm>
          <a:prstGeom prst="rect">
            <a:avLst/>
          </a:prstGeom>
          <a:solidFill>
            <a:srgbClr val="D97706"/>
          </a:solidFill>
          <a:ln w="12700">
            <a:solidFill>
              <a:srgbClr val="D97706"/>
            </a:solidFill>
            <a:prstDash val="solid"/>
          </a:ln>
        </p:spPr>
      </p:sp>
      <p:sp>
        <p:nvSpPr>
          <p:cNvPr id="23" name="Text 21"/>
          <p:cNvSpPr txBox="1"/>
          <p:nvPr/>
        </p:nvSpPr>
        <p:spPr>
          <a:xfrm>
            <a:off x="457200" y="2267712"/>
            <a:ext cx="8229600" cy="256032"/>
          </a:xfrm>
          <a:prstGeom prst="rect">
            <a:avLst/>
          </a:prstGeom>
          <a:noFill/>
          <a:ln/>
        </p:spPr>
        <p:txBody>
          <a:bodyPr wrap="square" lIns="0" tIns="0" rIns="0" bIns="0" rtlCol="0" anchor="ctr"/>
          <a:lstStyle/>
          <a:p>
            <a:pPr indent="0" marL="0">
              <a:buNone/>
            </a:pPr>
            <a:r>
              <a:rPr lang="en-US" sz="1100" b="1" dirty="0">
                <a:solidFill>
                  <a:srgbClr val="FFFFFF"/>
                </a:solidFill>
              </a:rPr>
              <a:t>🔶 HIGH RISK — REGULATED (Annex III)</a:t>
            </a:r>
            <a:endParaRPr lang="en-US" sz="1100" dirty="0"/>
          </a:p>
        </p:txBody>
      </p:sp>
      <p:sp>
        <p:nvSpPr>
          <p:cNvPr id="24" name="Text 22"/>
          <p:cNvSpPr txBox="1"/>
          <p:nvPr/>
        </p:nvSpPr>
        <p:spPr>
          <a:xfrm>
            <a:off x="8686800" y="2286000"/>
            <a:ext cx="2286000" cy="219456"/>
          </a:xfrm>
          <a:prstGeom prst="rect">
            <a:avLst/>
          </a:prstGeom>
          <a:noFill/>
          <a:ln/>
        </p:spPr>
        <p:txBody>
          <a:bodyPr wrap="square" lIns="0" tIns="0" rIns="0" bIns="0" rtlCol="0" anchor="ctr"/>
          <a:lstStyle/>
          <a:p>
            <a:pPr algn="r" indent="0" marL="0">
              <a:buNone/>
            </a:pPr>
            <a:r>
              <a:rPr lang="en-US" sz="900" dirty="0">
                <a:solidFill>
                  <a:srgbClr val="FFFFFF"/>
                </a:solidFill>
              </a:rPr>
              <a:t>Annex III: 2 Dec 2027</a:t>
            </a:r>
            <a:endParaRPr lang="en-US" sz="900" dirty="0"/>
          </a:p>
        </p:txBody>
      </p:sp>
      <p:sp>
        <p:nvSpPr>
          <p:cNvPr id="25" name="Text 23"/>
          <p:cNvSpPr txBox="1"/>
          <p:nvPr/>
        </p:nvSpPr>
        <p:spPr>
          <a:xfrm>
            <a:off x="457200" y="2633472"/>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Biometric identification systems not banned</a:t>
            </a:r>
            <a:endParaRPr lang="en-US" sz="950" dirty="0"/>
          </a:p>
        </p:txBody>
      </p:sp>
      <p:sp>
        <p:nvSpPr>
          <p:cNvPr id="26" name="Text 24"/>
          <p:cNvSpPr txBox="1"/>
          <p:nvPr/>
        </p:nvSpPr>
        <p:spPr>
          <a:xfrm>
            <a:off x="457200" y="2807208"/>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Critical infrastructure AI (power, water, transport)</a:t>
            </a:r>
            <a:endParaRPr lang="en-US" sz="950" dirty="0"/>
          </a:p>
        </p:txBody>
      </p:sp>
      <p:sp>
        <p:nvSpPr>
          <p:cNvPr id="27" name="Text 25"/>
          <p:cNvSpPr txBox="1"/>
          <p:nvPr/>
        </p:nvSpPr>
        <p:spPr>
          <a:xfrm>
            <a:off x="457200" y="2980944"/>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Education: admission decisions, grading, learning assessment</a:t>
            </a:r>
            <a:endParaRPr lang="en-US" sz="950" dirty="0"/>
          </a:p>
        </p:txBody>
      </p:sp>
      <p:sp>
        <p:nvSpPr>
          <p:cNvPr id="28" name="Text 26"/>
          <p:cNvSpPr txBox="1"/>
          <p:nvPr/>
        </p:nvSpPr>
        <p:spPr>
          <a:xfrm>
            <a:off x="3931920" y="2633472"/>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Employment: CV screening, hiring, promotion, performance monitoring</a:t>
            </a:r>
            <a:endParaRPr lang="en-US" sz="950" dirty="0"/>
          </a:p>
        </p:txBody>
      </p:sp>
      <p:sp>
        <p:nvSpPr>
          <p:cNvPr id="29" name="Text 27"/>
          <p:cNvSpPr txBox="1"/>
          <p:nvPr/>
        </p:nvSpPr>
        <p:spPr>
          <a:xfrm>
            <a:off x="3931920" y="2807208"/>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Credit scoring, insurance pricing, public benefits eligibility</a:t>
            </a:r>
            <a:endParaRPr lang="en-US" sz="950" dirty="0"/>
          </a:p>
        </p:txBody>
      </p:sp>
      <p:sp>
        <p:nvSpPr>
          <p:cNvPr id="30" name="Text 28"/>
          <p:cNvSpPr txBox="1"/>
          <p:nvPr/>
        </p:nvSpPr>
        <p:spPr>
          <a:xfrm>
            <a:off x="3931920" y="2980944"/>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Law enforcement risk assessment, polygraphs, evidence evaluation</a:t>
            </a:r>
            <a:endParaRPr lang="en-US" sz="950" dirty="0"/>
          </a:p>
        </p:txBody>
      </p:sp>
      <p:sp>
        <p:nvSpPr>
          <p:cNvPr id="31" name="Text 29"/>
          <p:cNvSpPr txBox="1"/>
          <p:nvPr/>
        </p:nvSpPr>
        <p:spPr>
          <a:xfrm>
            <a:off x="7406640" y="2633472"/>
            <a:ext cx="338328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Border control, asylum &amp; immigration AI · Justice system AI</a:t>
            </a:r>
            <a:endParaRPr lang="en-US" sz="950" dirty="0"/>
          </a:p>
        </p:txBody>
      </p:sp>
      <p:sp>
        <p:nvSpPr>
          <p:cNvPr id="32" name="Shape 30"/>
          <p:cNvSpPr/>
          <p:nvPr/>
        </p:nvSpPr>
        <p:spPr>
          <a:xfrm>
            <a:off x="320040" y="3547872"/>
            <a:ext cx="10789920" cy="1225296"/>
          </a:xfrm>
          <a:prstGeom prst="roundRect">
            <a:avLst>
              <a:gd name="adj" fmla="val 5970"/>
            </a:avLst>
          </a:prstGeom>
          <a:solidFill>
            <a:srgbClr val="EFF6FF"/>
          </a:solidFill>
          <a:ln w="12700">
            <a:solidFill>
              <a:srgbClr val="BFDBFE"/>
            </a:solidFill>
            <a:prstDash val="solid"/>
          </a:ln>
        </p:spPr>
      </p:sp>
      <p:sp>
        <p:nvSpPr>
          <p:cNvPr id="33" name="Shape 31"/>
          <p:cNvSpPr/>
          <p:nvPr/>
        </p:nvSpPr>
        <p:spPr>
          <a:xfrm>
            <a:off x="320040" y="3547872"/>
            <a:ext cx="10789920" cy="320040"/>
          </a:xfrm>
          <a:prstGeom prst="roundRect">
            <a:avLst>
              <a:gd name="adj" fmla="val 22857"/>
            </a:avLst>
          </a:prstGeom>
          <a:solidFill>
            <a:srgbClr val="2563EB"/>
          </a:solidFill>
          <a:ln w="12700">
            <a:solidFill>
              <a:srgbClr val="2563EB"/>
            </a:solidFill>
            <a:prstDash val="solid"/>
          </a:ln>
        </p:spPr>
      </p:sp>
      <p:sp>
        <p:nvSpPr>
          <p:cNvPr id="34" name="Shape 32"/>
          <p:cNvSpPr/>
          <p:nvPr/>
        </p:nvSpPr>
        <p:spPr>
          <a:xfrm>
            <a:off x="320040" y="3749040"/>
            <a:ext cx="10789920" cy="118872"/>
          </a:xfrm>
          <a:prstGeom prst="rect">
            <a:avLst/>
          </a:prstGeom>
          <a:solidFill>
            <a:srgbClr val="2563EB"/>
          </a:solidFill>
          <a:ln w="12700">
            <a:solidFill>
              <a:srgbClr val="2563EB"/>
            </a:solidFill>
            <a:prstDash val="solid"/>
          </a:ln>
        </p:spPr>
      </p:sp>
      <p:sp>
        <p:nvSpPr>
          <p:cNvPr id="35" name="Text 33"/>
          <p:cNvSpPr txBox="1"/>
          <p:nvPr/>
        </p:nvSpPr>
        <p:spPr>
          <a:xfrm>
            <a:off x="457200" y="3584448"/>
            <a:ext cx="8229600" cy="256032"/>
          </a:xfrm>
          <a:prstGeom prst="rect">
            <a:avLst/>
          </a:prstGeom>
          <a:noFill/>
          <a:ln/>
        </p:spPr>
        <p:txBody>
          <a:bodyPr wrap="square" lIns="0" tIns="0" rIns="0" bIns="0" rtlCol="0" anchor="ctr"/>
          <a:lstStyle/>
          <a:p>
            <a:pPr indent="0" marL="0">
              <a:buNone/>
            </a:pPr>
            <a:r>
              <a:rPr lang="en-US" sz="1100" b="1" dirty="0">
                <a:solidFill>
                  <a:srgbClr val="FFFFFF"/>
                </a:solidFill>
              </a:rPr>
              <a:t>🔵 LIMITED RISK — TRANSPARENCY (Art. 50)</a:t>
            </a:r>
            <a:endParaRPr lang="en-US" sz="1100" dirty="0"/>
          </a:p>
        </p:txBody>
      </p:sp>
      <p:sp>
        <p:nvSpPr>
          <p:cNvPr id="36" name="Text 34"/>
          <p:cNvSpPr txBox="1"/>
          <p:nvPr/>
        </p:nvSpPr>
        <p:spPr>
          <a:xfrm>
            <a:off x="8686800" y="3602736"/>
            <a:ext cx="2286000" cy="219456"/>
          </a:xfrm>
          <a:prstGeom prst="rect">
            <a:avLst/>
          </a:prstGeom>
          <a:noFill/>
          <a:ln/>
        </p:spPr>
        <p:txBody>
          <a:bodyPr wrap="square" lIns="0" tIns="0" rIns="0" bIns="0" rtlCol="0" anchor="ctr"/>
          <a:lstStyle/>
          <a:p>
            <a:pPr algn="r" indent="0" marL="0">
              <a:buNone/>
            </a:pPr>
            <a:r>
              <a:rPr lang="en-US" sz="900" dirty="0">
                <a:solidFill>
                  <a:srgbClr val="FFFFFF"/>
                </a:solidFill>
              </a:rPr>
              <a:t>Art. 50: 2 Aug 2026</a:t>
            </a:r>
            <a:endParaRPr lang="en-US" sz="900" dirty="0"/>
          </a:p>
        </p:txBody>
      </p:sp>
      <p:sp>
        <p:nvSpPr>
          <p:cNvPr id="37" name="Text 35"/>
          <p:cNvSpPr txBox="1"/>
          <p:nvPr/>
        </p:nvSpPr>
        <p:spPr>
          <a:xfrm>
            <a:off x="457200" y="3950208"/>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Chatbots must disclose they are AI — no fake human impersonation</a:t>
            </a:r>
            <a:endParaRPr lang="en-US" sz="950" dirty="0"/>
          </a:p>
        </p:txBody>
      </p:sp>
      <p:sp>
        <p:nvSpPr>
          <p:cNvPr id="38" name="Text 36"/>
          <p:cNvSpPr txBox="1"/>
          <p:nvPr/>
        </p:nvSpPr>
        <p:spPr>
          <a:xfrm>
            <a:off x="457200" y="4123944"/>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Deepfakes must be clearly labelled as AI-generated</a:t>
            </a:r>
            <a:endParaRPr lang="en-US" sz="950" dirty="0"/>
          </a:p>
        </p:txBody>
      </p:sp>
      <p:sp>
        <p:nvSpPr>
          <p:cNvPr id="39" name="Text 37"/>
          <p:cNvSpPr txBox="1"/>
          <p:nvPr/>
        </p:nvSpPr>
        <p:spPr>
          <a:xfrm>
            <a:off x="457200" y="4297680"/>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AI-generated content must be machine-detectable</a:t>
            </a:r>
            <a:endParaRPr lang="en-US" sz="950" dirty="0"/>
          </a:p>
        </p:txBody>
      </p:sp>
      <p:sp>
        <p:nvSpPr>
          <p:cNvPr id="40" name="Text 38"/>
          <p:cNvSpPr txBox="1"/>
          <p:nvPr/>
        </p:nvSpPr>
        <p:spPr>
          <a:xfrm>
            <a:off x="5669280" y="3950208"/>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Emotion recognition output must be disclosed to subject</a:t>
            </a:r>
            <a:endParaRPr lang="en-US" sz="950" dirty="0"/>
          </a:p>
        </p:txBody>
      </p:sp>
      <p:sp>
        <p:nvSpPr>
          <p:cNvPr id="41" name="Text 39"/>
          <p:cNvSpPr txBox="1"/>
          <p:nvPr/>
        </p:nvSpPr>
        <p:spPr>
          <a:xfrm>
            <a:off x="5669280" y="4123944"/>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Providers and deployers share disclosure responsibility</a:t>
            </a:r>
            <a:endParaRPr lang="en-US" sz="950" dirty="0"/>
          </a:p>
        </p:txBody>
      </p:sp>
      <p:sp>
        <p:nvSpPr>
          <p:cNvPr id="42" name="Shape 40"/>
          <p:cNvSpPr/>
          <p:nvPr/>
        </p:nvSpPr>
        <p:spPr>
          <a:xfrm>
            <a:off x="320040" y="4864608"/>
            <a:ext cx="10789920" cy="1225296"/>
          </a:xfrm>
          <a:prstGeom prst="roundRect">
            <a:avLst>
              <a:gd name="adj" fmla="val 5970"/>
            </a:avLst>
          </a:prstGeom>
          <a:solidFill>
            <a:srgbClr val="F0FDF4"/>
          </a:solidFill>
          <a:ln w="12700">
            <a:solidFill>
              <a:srgbClr val="86EFAC"/>
            </a:solidFill>
            <a:prstDash val="solid"/>
          </a:ln>
        </p:spPr>
      </p:sp>
      <p:sp>
        <p:nvSpPr>
          <p:cNvPr id="43" name="Shape 41"/>
          <p:cNvSpPr/>
          <p:nvPr/>
        </p:nvSpPr>
        <p:spPr>
          <a:xfrm>
            <a:off x="320040" y="4864608"/>
            <a:ext cx="10789920" cy="320040"/>
          </a:xfrm>
          <a:prstGeom prst="roundRect">
            <a:avLst>
              <a:gd name="adj" fmla="val 22857"/>
            </a:avLst>
          </a:prstGeom>
          <a:solidFill>
            <a:srgbClr val="16A34A"/>
          </a:solidFill>
          <a:ln w="12700">
            <a:solidFill>
              <a:srgbClr val="16A34A"/>
            </a:solidFill>
            <a:prstDash val="solid"/>
          </a:ln>
        </p:spPr>
      </p:sp>
      <p:sp>
        <p:nvSpPr>
          <p:cNvPr id="44" name="Shape 42"/>
          <p:cNvSpPr/>
          <p:nvPr/>
        </p:nvSpPr>
        <p:spPr>
          <a:xfrm>
            <a:off x="320040" y="5065776"/>
            <a:ext cx="10789920" cy="118872"/>
          </a:xfrm>
          <a:prstGeom prst="rect">
            <a:avLst/>
          </a:prstGeom>
          <a:solidFill>
            <a:srgbClr val="16A34A"/>
          </a:solidFill>
          <a:ln w="12700">
            <a:solidFill>
              <a:srgbClr val="16A34A"/>
            </a:solidFill>
            <a:prstDash val="solid"/>
          </a:ln>
        </p:spPr>
      </p:sp>
      <p:sp>
        <p:nvSpPr>
          <p:cNvPr id="45" name="Text 43"/>
          <p:cNvSpPr txBox="1"/>
          <p:nvPr/>
        </p:nvSpPr>
        <p:spPr>
          <a:xfrm>
            <a:off x="457200" y="4901184"/>
            <a:ext cx="8229600" cy="256032"/>
          </a:xfrm>
          <a:prstGeom prst="rect">
            <a:avLst/>
          </a:prstGeom>
          <a:noFill/>
          <a:ln/>
        </p:spPr>
        <p:txBody>
          <a:bodyPr wrap="square" lIns="0" tIns="0" rIns="0" bIns="0" rtlCol="0" anchor="ctr"/>
          <a:lstStyle/>
          <a:p>
            <a:pPr indent="0" marL="0">
              <a:buNone/>
            </a:pPr>
            <a:r>
              <a:rPr lang="en-US" sz="1100" b="1" dirty="0">
                <a:solidFill>
                  <a:srgbClr val="FFFFFF"/>
                </a:solidFill>
              </a:rPr>
              <a:t>🟢 MINIMAL RISK — UNREGULATED</a:t>
            </a:r>
            <a:endParaRPr lang="en-US" sz="1100" dirty="0"/>
          </a:p>
        </p:txBody>
      </p:sp>
      <p:sp>
        <p:nvSpPr>
          <p:cNvPr id="46" name="Text 44"/>
          <p:cNvSpPr txBox="1"/>
          <p:nvPr/>
        </p:nvSpPr>
        <p:spPr>
          <a:xfrm>
            <a:off x="8686800" y="4919472"/>
            <a:ext cx="2286000" cy="219456"/>
          </a:xfrm>
          <a:prstGeom prst="rect">
            <a:avLst/>
          </a:prstGeom>
          <a:noFill/>
          <a:ln/>
        </p:spPr>
        <p:txBody>
          <a:bodyPr wrap="square" lIns="0" tIns="0" rIns="0" bIns="0" rtlCol="0" anchor="ctr"/>
          <a:lstStyle/>
          <a:p>
            <a:pPr algn="r" indent="0" marL="0">
              <a:buNone/>
            </a:pPr>
            <a:r>
              <a:rPr lang="en-US" sz="900" dirty="0">
                <a:solidFill>
                  <a:srgbClr val="FFFFFF"/>
                </a:solidFill>
              </a:rPr>
              <a:t>No deadline — voluntary codes encouraged</a:t>
            </a:r>
            <a:endParaRPr lang="en-US" sz="900" dirty="0"/>
          </a:p>
        </p:txBody>
      </p:sp>
      <p:sp>
        <p:nvSpPr>
          <p:cNvPr id="47" name="Text 45"/>
          <p:cNvSpPr txBox="1"/>
          <p:nvPr/>
        </p:nvSpPr>
        <p:spPr>
          <a:xfrm>
            <a:off x="457200" y="5266944"/>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AI spam filters, recommendation engines, SEO tools</a:t>
            </a:r>
            <a:endParaRPr lang="en-US" sz="950" dirty="0"/>
          </a:p>
        </p:txBody>
      </p:sp>
      <p:sp>
        <p:nvSpPr>
          <p:cNvPr id="48" name="Text 46"/>
          <p:cNvSpPr txBox="1"/>
          <p:nvPr/>
        </p:nvSpPr>
        <p:spPr>
          <a:xfrm>
            <a:off x="457200" y="5440680"/>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Most GenAI marketing content tools</a:t>
            </a:r>
            <a:endParaRPr lang="en-US" sz="950" dirty="0"/>
          </a:p>
        </p:txBody>
      </p:sp>
      <p:sp>
        <p:nvSpPr>
          <p:cNvPr id="49" name="Text 47"/>
          <p:cNvSpPr txBox="1"/>
          <p:nvPr/>
        </p:nvSpPr>
        <p:spPr>
          <a:xfrm>
            <a:off x="5669280" y="5266944"/>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AI video games, image enhancement</a:t>
            </a:r>
            <a:endParaRPr lang="en-US" sz="950" dirty="0"/>
          </a:p>
        </p:txBody>
      </p:sp>
      <p:sp>
        <p:nvSpPr>
          <p:cNvPr id="50" name="Text 48"/>
          <p:cNvSpPr txBox="1"/>
          <p:nvPr/>
        </p:nvSpPr>
        <p:spPr>
          <a:xfrm>
            <a:off x="5669280" y="5440680"/>
            <a:ext cx="5120640" cy="173736"/>
          </a:xfrm>
          <a:prstGeom prst="rect">
            <a:avLst/>
          </a:prstGeom>
          <a:noFill/>
          <a:ln/>
        </p:spPr>
        <p:txBody>
          <a:bodyPr wrap="square" lIns="0" tIns="0" rIns="0" bIns="0" rtlCol="0" anchor="ctr"/>
          <a:lstStyle/>
          <a:p>
            <a:pPr indent="0" marL="0">
              <a:lnSpc>
                <a:spcPts val="1200"/>
              </a:lnSpc>
              <a:buNone/>
            </a:pPr>
            <a:r>
              <a:rPr lang="en-US" sz="950" dirty="0">
                <a:solidFill>
                  <a:srgbClr val="374151"/>
                </a:solidFill>
              </a:rPr>
              <a:t>•  No mandatory obligations — voluntary codes encouraged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E95332"/>
          </a:solidFill>
          <a:ln w="12700">
            <a:solidFill>
              <a:srgbClr val="E95332"/>
            </a:solidFill>
            <a:prstDash val="solid"/>
          </a:ln>
        </p:spPr>
      </p:sp>
      <p:sp>
        <p:nvSpPr>
          <p:cNvPr id="3" name="Shape 1"/>
          <p:cNvSpPr/>
          <p:nvPr/>
        </p:nvSpPr>
        <p:spPr>
          <a:xfrm>
            <a:off x="11430000" y="0"/>
            <a:ext cx="758952" cy="6858000"/>
          </a:xfrm>
          <a:prstGeom prst="rect">
            <a:avLst/>
          </a:prstGeom>
          <a:solidFill>
            <a:srgbClr val="1F2739"/>
          </a:solidFill>
          <a:ln w="12700">
            <a:solidFill>
              <a:srgbClr val="1F2739"/>
            </a:solidFill>
            <a:prstDash val="solid"/>
          </a:ln>
        </p:spPr>
      </p:sp>
      <p:sp>
        <p:nvSpPr>
          <p:cNvPr id="4" name="Text 2"/>
          <p:cNvSpPr txBox="1"/>
          <p:nvPr/>
        </p:nvSpPr>
        <p:spPr>
          <a:xfrm>
            <a:off x="11448288" y="137160"/>
            <a:ext cx="731520" cy="1463040"/>
          </a:xfrm>
          <a:prstGeom prst="rect">
            <a:avLst/>
          </a:prstGeom>
          <a:noFill/>
          <a:ln/>
        </p:spPr>
        <p:txBody>
          <a:bodyPr wrap="square" lIns="0" tIns="0" rIns="0" bIns="0" rtlCol="0" anchor="ctr"/>
          <a:lstStyle/>
          <a:p>
            <a:pPr algn="ctr" indent="0" marL="0">
              <a:buNone/>
            </a:pPr>
            <a:r>
              <a:rPr lang="en-US" sz="800" b="1" dirty="0">
                <a:solidFill>
                  <a:srgbClr val="E95332"/>
                </a:solidFill>
              </a:rPr>
              <a:t>STA
</a:t>
            </a:r>
            <a:pPr algn="ctr" indent="0" marL="0">
              <a:buNone/>
            </a:pPr>
            <a:r>
              <a:rPr lang="en-US" sz="800" b="1" dirty="0">
                <a:solidFill>
                  <a:srgbClr val="E95332"/>
                </a:solidFill>
              </a:rPr>
              <a:t>CK
</a:t>
            </a:r>
            <a:pPr algn="ctr" indent="0" marL="0">
              <a:buNone/>
            </a:pPr>
            <a:r>
              <a:rPr lang="en-US" sz="600" b="1" dirty="0">
                <a:solidFill>
                  <a:srgbClr val="E95332"/>
                </a:solidFill>
              </a:rPr>
              <a:t>ROUTE
</a:t>
            </a:r>
            <a:pPr algn="ctr" indent="0" marL="0">
              <a:buNone/>
            </a:pPr>
            <a:r>
              <a:rPr lang="en-US" sz="500" dirty="0">
                <a:solidFill>
                  <a:srgbClr val="FFFFFF"/>
                </a:solidFill>
              </a:rPr>
              <a:t>AN
</a:t>
            </a:r>
            <a:pPr algn="ctr" indent="0" marL="0">
              <a:buNone/>
            </a:pPr>
            <a:r>
              <a:rPr lang="en-US" sz="700" b="1" dirty="0">
                <a:solidFill>
                  <a:srgbClr val="FFFFFF"/>
                </a:solidFill>
              </a:rPr>
              <a:t>NIIT
</a:t>
            </a:r>
            <a:pPr algn="ctr" indent="0" marL="0">
              <a:buNone/>
            </a:pPr>
            <a:r>
              <a:rPr lang="en-US" sz="400" dirty="0">
                <a:solidFill>
                  <a:srgbClr val="FFFFFF"/>
                </a:solidFill>
              </a:rPr>
              <a:t>VENTURE</a:t>
            </a:r>
            <a:endParaRPr lang="en-US" sz="800" dirty="0"/>
          </a:p>
        </p:txBody>
      </p:sp>
      <p:sp>
        <p:nvSpPr>
          <p:cNvPr id="5" name="Text 3"/>
          <p:cNvSpPr txBox="1"/>
          <p:nvPr/>
        </p:nvSpPr>
        <p:spPr>
          <a:xfrm>
            <a:off x="274320" y="6309360"/>
            <a:ext cx="10881360" cy="228600"/>
          </a:xfrm>
          <a:prstGeom prst="rect">
            <a:avLst/>
          </a:prstGeom>
          <a:noFill/>
          <a:ln/>
        </p:spPr>
        <p:txBody>
          <a:bodyPr wrap="square" rtlCol="0" anchor="ctr"/>
          <a:lstStyle/>
          <a:p>
            <a:pPr indent="0" marL="0">
              <a:buNone/>
            </a:pPr>
            <a:r>
              <a:rPr lang="en-US" sz="600" dirty="0">
                <a:solidFill>
                  <a:srgbClr val="8B949E"/>
                </a:solidFill>
              </a:rPr>
              <a:t>Confidential – Intellectual Property of NIIT Ltd. | © NIIT-StackRoute 2025-2026</a:t>
            </a:r>
            <a:endParaRPr lang="en-US" sz="600" dirty="0"/>
          </a:p>
        </p:txBody>
      </p:sp>
      <p:sp>
        <p:nvSpPr>
          <p:cNvPr id="6" name="Text 4"/>
          <p:cNvSpPr txBox="1"/>
          <p:nvPr/>
        </p:nvSpPr>
        <p:spPr>
          <a:xfrm>
            <a:off x="320040" y="164592"/>
            <a:ext cx="10789920" cy="502920"/>
          </a:xfrm>
          <a:prstGeom prst="rect">
            <a:avLst/>
          </a:prstGeom>
          <a:noFill/>
          <a:ln/>
        </p:spPr>
        <p:txBody>
          <a:bodyPr wrap="square" rtlCol="0" anchor="ctr"/>
          <a:lstStyle/>
          <a:p>
            <a:pPr indent="0" marL="0">
              <a:buNone/>
            </a:pPr>
            <a:r>
              <a:rPr lang="en-US" sz="2400" b="1" dirty="0">
                <a:solidFill>
                  <a:srgbClr val="E95332"/>
                </a:solidFill>
                <a:latin typeface="Candara" pitchFamily="34" charset="0"/>
                <a:ea typeface="Candara" pitchFamily="34" charset="-122"/>
                <a:cs typeface="Candara" pitchFamily="34" charset="-120"/>
              </a:rPr>
              <a:t>General-Purpose AI (GPAI) Obligations — Chapter V</a:t>
            </a:r>
            <a:endParaRPr lang="en-US" sz="2400" dirty="0"/>
          </a:p>
        </p:txBody>
      </p:sp>
      <p:sp>
        <p:nvSpPr>
          <p:cNvPr id="7" name="Shape 5"/>
          <p:cNvSpPr/>
          <p:nvPr/>
        </p:nvSpPr>
        <p:spPr>
          <a:xfrm>
            <a:off x="320040" y="694944"/>
            <a:ext cx="10789920" cy="18288"/>
          </a:xfrm>
          <a:prstGeom prst="rect">
            <a:avLst/>
          </a:prstGeom>
          <a:solidFill>
            <a:srgbClr val="E95332"/>
          </a:solidFill>
          <a:ln w="12700">
            <a:solidFill>
              <a:srgbClr val="E95332"/>
            </a:solidFill>
            <a:prstDash val="solid"/>
          </a:ln>
        </p:spPr>
      </p:sp>
      <p:sp>
        <p:nvSpPr>
          <p:cNvPr id="8" name="Shape 6"/>
          <p:cNvSpPr/>
          <p:nvPr/>
        </p:nvSpPr>
        <p:spPr>
          <a:xfrm>
            <a:off x="320040" y="841248"/>
            <a:ext cx="10789920" cy="566928"/>
          </a:xfrm>
          <a:prstGeom prst="roundRect">
            <a:avLst>
              <a:gd name="adj" fmla="val 11290"/>
            </a:avLst>
          </a:prstGeom>
          <a:solidFill>
            <a:srgbClr val="EEF2FF"/>
          </a:solidFill>
          <a:ln w="12700">
            <a:solidFill>
              <a:srgbClr val="BFD0FF"/>
            </a:solidFill>
            <a:prstDash val="solid"/>
          </a:ln>
        </p:spPr>
      </p:sp>
      <p:sp>
        <p:nvSpPr>
          <p:cNvPr id="9" name="Text 7"/>
          <p:cNvSpPr txBox="1"/>
          <p:nvPr/>
        </p:nvSpPr>
        <p:spPr>
          <a:xfrm>
            <a:off x="457200" y="877824"/>
            <a:ext cx="10515600" cy="493776"/>
          </a:xfrm>
          <a:prstGeom prst="rect">
            <a:avLst/>
          </a:prstGeom>
          <a:noFill/>
          <a:ln/>
        </p:spPr>
        <p:txBody>
          <a:bodyPr wrap="square" lIns="0" tIns="0" rIns="0" bIns="0" rtlCol="0" anchor="ctr"/>
          <a:lstStyle/>
          <a:p>
            <a:pPr indent="0" marL="0">
              <a:lnSpc>
                <a:spcPts val="1500"/>
              </a:lnSpc>
              <a:buNone/>
            </a:pPr>
            <a:r>
              <a:rPr lang="en-US" sz="1200" dirty="0">
                <a:solidFill>
                  <a:srgbClr val="374151"/>
                </a:solidFill>
              </a:rPr>
              <a:t>GPAI models (GPT-4, Gemini, Claude, Llama, Mistral) that display "significant generality" and can perform a wide range of tasks fall under Chapter V. Obligations vary by whether the model presents systemic risk (≥10²⁵ FLOPs training compute). GPAI obligations: 2 August 2025 ✅ — already in effect.</a:t>
            </a:r>
            <a:endParaRPr lang="en-US" sz="1200" dirty="0"/>
          </a:p>
        </p:txBody>
      </p:sp>
      <p:sp>
        <p:nvSpPr>
          <p:cNvPr id="10" name="Shape 8"/>
          <p:cNvSpPr/>
          <p:nvPr/>
        </p:nvSpPr>
        <p:spPr>
          <a:xfrm>
            <a:off x="320040" y="1499616"/>
            <a:ext cx="5349240" cy="384048"/>
          </a:xfrm>
          <a:prstGeom prst="roundRect">
            <a:avLst>
              <a:gd name="adj" fmla="val 19048"/>
            </a:avLst>
          </a:prstGeom>
          <a:solidFill>
            <a:srgbClr val="7C3AED"/>
          </a:solidFill>
          <a:ln w="12700">
            <a:solidFill>
              <a:srgbClr val="7C3AED"/>
            </a:solidFill>
            <a:prstDash val="solid"/>
          </a:ln>
        </p:spPr>
      </p:sp>
      <p:sp>
        <p:nvSpPr>
          <p:cNvPr id="11" name="Text 9"/>
          <p:cNvSpPr txBox="1"/>
          <p:nvPr/>
        </p:nvSpPr>
        <p:spPr>
          <a:xfrm>
            <a:off x="411480" y="1536192"/>
            <a:ext cx="5166360" cy="310896"/>
          </a:xfrm>
          <a:prstGeom prst="rect">
            <a:avLst/>
          </a:prstGeom>
          <a:noFill/>
          <a:ln/>
        </p:spPr>
        <p:txBody>
          <a:bodyPr wrap="square" lIns="0" tIns="0" rIns="0" bIns="0" rtlCol="0" anchor="ctr"/>
          <a:lstStyle/>
          <a:p>
            <a:pPr algn="ctr" indent="0" marL="0">
              <a:buNone/>
            </a:pPr>
            <a:r>
              <a:rPr lang="en-US" sz="1100" b="1" dirty="0">
                <a:solidFill>
                  <a:srgbClr val="FFFFFF"/>
                </a:solidFill>
              </a:rPr>
              <a:t>All GPAI Providers Must (Art. 53)</a:t>
            </a:r>
            <a:endParaRPr lang="en-US" sz="1100" dirty="0"/>
          </a:p>
        </p:txBody>
      </p:sp>
      <p:sp>
        <p:nvSpPr>
          <p:cNvPr id="12" name="Shape 10"/>
          <p:cNvSpPr/>
          <p:nvPr/>
        </p:nvSpPr>
        <p:spPr>
          <a:xfrm>
            <a:off x="320040" y="1956816"/>
            <a:ext cx="5349240" cy="4206240"/>
          </a:xfrm>
          <a:prstGeom prst="roundRect">
            <a:avLst>
              <a:gd name="adj" fmla="val 1522"/>
            </a:avLst>
          </a:prstGeom>
          <a:solidFill>
            <a:srgbClr val="F5F5F5"/>
          </a:solidFill>
          <a:ln w="12700">
            <a:solidFill>
              <a:srgbClr val="D1D5DB"/>
            </a:solidFill>
            <a:prstDash val="solid"/>
          </a:ln>
        </p:spPr>
      </p:sp>
      <p:sp>
        <p:nvSpPr>
          <p:cNvPr id="13" name="Text 11"/>
          <p:cNvSpPr txBox="1"/>
          <p:nvPr/>
        </p:nvSpPr>
        <p:spPr>
          <a:xfrm>
            <a:off x="429768" y="204825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Publish technical documentation of training process (architecture, data, methods)</a:t>
            </a:r>
            <a:endParaRPr lang="en-US" sz="1050" dirty="0"/>
          </a:p>
        </p:txBody>
      </p:sp>
      <p:sp>
        <p:nvSpPr>
          <p:cNvPr id="14" name="Text 12"/>
          <p:cNvSpPr txBox="1"/>
          <p:nvPr/>
        </p:nvSpPr>
        <p:spPr>
          <a:xfrm>
            <a:off x="429768" y="268833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Provide capability &amp; limitation documentation to downstream AI system providers</a:t>
            </a:r>
            <a:endParaRPr lang="en-US" sz="1050" dirty="0"/>
          </a:p>
        </p:txBody>
      </p:sp>
      <p:sp>
        <p:nvSpPr>
          <p:cNvPr id="15" name="Text 13"/>
          <p:cNvSpPr txBox="1"/>
          <p:nvPr/>
        </p:nvSpPr>
        <p:spPr>
          <a:xfrm>
            <a:off x="429768" y="332841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Comply with EU Copyright Directive — no unlicensed training data</a:t>
            </a:r>
            <a:endParaRPr lang="en-US" sz="1050" dirty="0"/>
          </a:p>
        </p:txBody>
      </p:sp>
      <p:sp>
        <p:nvSpPr>
          <p:cNvPr id="16" name="Text 14"/>
          <p:cNvSpPr txBox="1"/>
          <p:nvPr/>
        </p:nvSpPr>
        <p:spPr>
          <a:xfrm>
            <a:off x="429768" y="396849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Publish a sufficiently detailed summary of training data</a:t>
            </a:r>
            <a:endParaRPr lang="en-US" sz="1050" dirty="0"/>
          </a:p>
        </p:txBody>
      </p:sp>
      <p:sp>
        <p:nvSpPr>
          <p:cNvPr id="17" name="Text 15"/>
          <p:cNvSpPr txBox="1"/>
          <p:nvPr/>
        </p:nvSpPr>
        <p:spPr>
          <a:xfrm>
            <a:off x="429768" y="460857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Voluntary adherence to GPAI Code of Practice (declared adequate Aug 2025)</a:t>
            </a:r>
            <a:endParaRPr lang="en-US" sz="1050" dirty="0"/>
          </a:p>
        </p:txBody>
      </p:sp>
      <p:sp>
        <p:nvSpPr>
          <p:cNvPr id="18" name="Text 16"/>
          <p:cNvSpPr txBox="1"/>
          <p:nvPr/>
        </p:nvSpPr>
        <p:spPr>
          <a:xfrm>
            <a:off x="429768" y="524865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Open-source GPAI: only copyright + training summary unless systemic risk</a:t>
            </a:r>
            <a:endParaRPr lang="en-US" sz="1050" dirty="0"/>
          </a:p>
        </p:txBody>
      </p:sp>
      <p:sp>
        <p:nvSpPr>
          <p:cNvPr id="19" name="Shape 17"/>
          <p:cNvSpPr/>
          <p:nvPr/>
        </p:nvSpPr>
        <p:spPr>
          <a:xfrm>
            <a:off x="5943600" y="1499616"/>
            <a:ext cx="5349240" cy="384048"/>
          </a:xfrm>
          <a:prstGeom prst="roundRect">
            <a:avLst>
              <a:gd name="adj" fmla="val 19048"/>
            </a:avLst>
          </a:prstGeom>
          <a:solidFill>
            <a:srgbClr val="DC2626"/>
          </a:solidFill>
          <a:ln w="12700">
            <a:solidFill>
              <a:srgbClr val="DC2626"/>
            </a:solidFill>
            <a:prstDash val="solid"/>
          </a:ln>
        </p:spPr>
      </p:sp>
      <p:sp>
        <p:nvSpPr>
          <p:cNvPr id="20" name="Text 18"/>
          <p:cNvSpPr txBox="1"/>
          <p:nvPr/>
        </p:nvSpPr>
        <p:spPr>
          <a:xfrm>
            <a:off x="6035040" y="1536192"/>
            <a:ext cx="5166360" cy="310896"/>
          </a:xfrm>
          <a:prstGeom prst="rect">
            <a:avLst/>
          </a:prstGeom>
          <a:noFill/>
          <a:ln/>
        </p:spPr>
        <p:txBody>
          <a:bodyPr wrap="square" lIns="0" tIns="0" rIns="0" bIns="0" rtlCol="0" anchor="ctr"/>
          <a:lstStyle/>
          <a:p>
            <a:pPr algn="ctr" indent="0" marL="0">
              <a:buNone/>
            </a:pPr>
            <a:r>
              <a:rPr lang="en-US" sz="1100" b="1" dirty="0">
                <a:solidFill>
                  <a:srgbClr val="FFFFFF"/>
                </a:solidFill>
              </a:rPr>
              <a:t>Systemic Risk GPAI Also Must (Art. 55)</a:t>
            </a:r>
            <a:endParaRPr lang="en-US" sz="1100" dirty="0"/>
          </a:p>
        </p:txBody>
      </p:sp>
      <p:sp>
        <p:nvSpPr>
          <p:cNvPr id="21" name="Shape 19"/>
          <p:cNvSpPr/>
          <p:nvPr/>
        </p:nvSpPr>
        <p:spPr>
          <a:xfrm>
            <a:off x="5943600" y="1956816"/>
            <a:ext cx="5349240" cy="4206240"/>
          </a:xfrm>
          <a:prstGeom prst="roundRect">
            <a:avLst>
              <a:gd name="adj" fmla="val 1522"/>
            </a:avLst>
          </a:prstGeom>
          <a:solidFill>
            <a:srgbClr val="F5F5F5"/>
          </a:solidFill>
          <a:ln w="12700">
            <a:solidFill>
              <a:srgbClr val="D1D5DB"/>
            </a:solidFill>
            <a:prstDash val="solid"/>
          </a:ln>
        </p:spPr>
      </p:sp>
      <p:sp>
        <p:nvSpPr>
          <p:cNvPr id="22" name="Text 20"/>
          <p:cNvSpPr txBox="1"/>
          <p:nvPr/>
        </p:nvSpPr>
        <p:spPr>
          <a:xfrm>
            <a:off x="6053328" y="204825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Notify EU Commission within 2 weeks of exceeding 10²⁵ FLOPs threshold</a:t>
            </a:r>
            <a:endParaRPr lang="en-US" sz="1050" dirty="0"/>
          </a:p>
        </p:txBody>
      </p:sp>
      <p:sp>
        <p:nvSpPr>
          <p:cNvPr id="23" name="Text 21"/>
          <p:cNvSpPr txBox="1"/>
          <p:nvPr/>
        </p:nvSpPr>
        <p:spPr>
          <a:xfrm>
            <a:off x="6053328" y="268833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Conduct adversarial testing (red-teaming) — maps to MITRE ATLAS methodology</a:t>
            </a:r>
            <a:endParaRPr lang="en-US" sz="1050" dirty="0"/>
          </a:p>
        </p:txBody>
      </p:sp>
      <p:sp>
        <p:nvSpPr>
          <p:cNvPr id="24" name="Text 22"/>
          <p:cNvSpPr txBox="1"/>
          <p:nvPr/>
        </p:nvSpPr>
        <p:spPr>
          <a:xfrm>
            <a:off x="6053328" y="332841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Assess, document and mitigate systemic risks and their sources</a:t>
            </a:r>
            <a:endParaRPr lang="en-US" sz="1050" dirty="0"/>
          </a:p>
        </p:txBody>
      </p:sp>
      <p:sp>
        <p:nvSpPr>
          <p:cNvPr id="25" name="Text 23"/>
          <p:cNvSpPr txBox="1"/>
          <p:nvPr/>
        </p:nvSpPr>
        <p:spPr>
          <a:xfrm>
            <a:off x="6053328" y="396849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Track, document and report serious incidents to EU AI Office without undue delay</a:t>
            </a:r>
            <a:endParaRPr lang="en-US" sz="1050" dirty="0"/>
          </a:p>
        </p:txBody>
      </p:sp>
      <p:sp>
        <p:nvSpPr>
          <p:cNvPr id="26" name="Text 24"/>
          <p:cNvSpPr txBox="1"/>
          <p:nvPr/>
        </p:nvSpPr>
        <p:spPr>
          <a:xfrm>
            <a:off x="6053328" y="460857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Maintain adequate cybersecurity protections for model and infrastructure</a:t>
            </a:r>
            <a:endParaRPr lang="en-US" sz="1050" dirty="0"/>
          </a:p>
        </p:txBody>
      </p:sp>
      <p:sp>
        <p:nvSpPr>
          <p:cNvPr id="27" name="Text 25"/>
          <p:cNvSpPr txBox="1"/>
          <p:nvPr/>
        </p:nvSpPr>
        <p:spPr>
          <a:xfrm>
            <a:off x="6053328" y="5248656"/>
            <a:ext cx="5129784" cy="566928"/>
          </a:xfrm>
          <a:prstGeom prst="rect">
            <a:avLst/>
          </a:prstGeom>
          <a:noFill/>
          <a:ln/>
        </p:spPr>
        <p:txBody>
          <a:bodyPr wrap="square" lIns="0" tIns="0" rIns="0" bIns="0" rtlCol="0" anchor="ctr"/>
          <a:lstStyle/>
          <a:p>
            <a:pPr indent="0" marL="0">
              <a:lnSpc>
                <a:spcPts val="1300"/>
              </a:lnSpc>
              <a:buNone/>
            </a:pPr>
            <a:r>
              <a:rPr lang="en-US" sz="1050" dirty="0">
                <a:solidFill>
                  <a:srgbClr val="374151"/>
                </a:solidFill>
              </a:rPr>
              <a:t>▸  Perform model evaluations to assess capability and risk — including third-party eval</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E95332"/>
          </a:solidFill>
          <a:ln w="12700">
            <a:solidFill>
              <a:srgbClr val="E95332"/>
            </a:solidFill>
            <a:prstDash val="solid"/>
          </a:ln>
        </p:spPr>
      </p:sp>
      <p:sp>
        <p:nvSpPr>
          <p:cNvPr id="3" name="Shape 1"/>
          <p:cNvSpPr/>
          <p:nvPr/>
        </p:nvSpPr>
        <p:spPr>
          <a:xfrm>
            <a:off x="11430000" y="0"/>
            <a:ext cx="758952" cy="6858000"/>
          </a:xfrm>
          <a:prstGeom prst="rect">
            <a:avLst/>
          </a:prstGeom>
          <a:solidFill>
            <a:srgbClr val="1F2739"/>
          </a:solidFill>
          <a:ln w="12700">
            <a:solidFill>
              <a:srgbClr val="1F2739"/>
            </a:solidFill>
            <a:prstDash val="solid"/>
          </a:ln>
        </p:spPr>
      </p:sp>
      <p:sp>
        <p:nvSpPr>
          <p:cNvPr id="4" name="Text 2"/>
          <p:cNvSpPr txBox="1"/>
          <p:nvPr/>
        </p:nvSpPr>
        <p:spPr>
          <a:xfrm>
            <a:off x="11448288" y="137160"/>
            <a:ext cx="731520" cy="1463040"/>
          </a:xfrm>
          <a:prstGeom prst="rect">
            <a:avLst/>
          </a:prstGeom>
          <a:noFill/>
          <a:ln/>
        </p:spPr>
        <p:txBody>
          <a:bodyPr wrap="square" lIns="0" tIns="0" rIns="0" bIns="0" rtlCol="0" anchor="ctr"/>
          <a:lstStyle/>
          <a:p>
            <a:pPr algn="ctr" indent="0" marL="0">
              <a:buNone/>
            </a:pPr>
            <a:r>
              <a:rPr lang="en-US" sz="800" b="1" dirty="0">
                <a:solidFill>
                  <a:srgbClr val="E95332"/>
                </a:solidFill>
              </a:rPr>
              <a:t>STA
</a:t>
            </a:r>
            <a:pPr algn="ctr" indent="0" marL="0">
              <a:buNone/>
            </a:pPr>
            <a:r>
              <a:rPr lang="en-US" sz="800" b="1" dirty="0">
                <a:solidFill>
                  <a:srgbClr val="E95332"/>
                </a:solidFill>
              </a:rPr>
              <a:t>CK
</a:t>
            </a:r>
            <a:pPr algn="ctr" indent="0" marL="0">
              <a:buNone/>
            </a:pPr>
            <a:r>
              <a:rPr lang="en-US" sz="600" b="1" dirty="0">
                <a:solidFill>
                  <a:srgbClr val="E95332"/>
                </a:solidFill>
              </a:rPr>
              <a:t>ROUTE
</a:t>
            </a:r>
            <a:pPr algn="ctr" indent="0" marL="0">
              <a:buNone/>
            </a:pPr>
            <a:r>
              <a:rPr lang="en-US" sz="500" dirty="0">
                <a:solidFill>
                  <a:srgbClr val="FFFFFF"/>
                </a:solidFill>
              </a:rPr>
              <a:t>AN
</a:t>
            </a:r>
            <a:pPr algn="ctr" indent="0" marL="0">
              <a:buNone/>
            </a:pPr>
            <a:r>
              <a:rPr lang="en-US" sz="700" b="1" dirty="0">
                <a:solidFill>
                  <a:srgbClr val="FFFFFF"/>
                </a:solidFill>
              </a:rPr>
              <a:t>NIIT
</a:t>
            </a:r>
            <a:pPr algn="ctr" indent="0" marL="0">
              <a:buNone/>
            </a:pPr>
            <a:r>
              <a:rPr lang="en-US" sz="400" dirty="0">
                <a:solidFill>
                  <a:srgbClr val="FFFFFF"/>
                </a:solidFill>
              </a:rPr>
              <a:t>VENTURE</a:t>
            </a:r>
            <a:endParaRPr lang="en-US" sz="800" dirty="0"/>
          </a:p>
        </p:txBody>
      </p:sp>
      <p:sp>
        <p:nvSpPr>
          <p:cNvPr id="5" name="Text 3"/>
          <p:cNvSpPr txBox="1"/>
          <p:nvPr/>
        </p:nvSpPr>
        <p:spPr>
          <a:xfrm>
            <a:off x="274320" y="6309360"/>
            <a:ext cx="10881360" cy="228600"/>
          </a:xfrm>
          <a:prstGeom prst="rect">
            <a:avLst/>
          </a:prstGeom>
          <a:noFill/>
          <a:ln/>
        </p:spPr>
        <p:txBody>
          <a:bodyPr wrap="square" rtlCol="0" anchor="ctr"/>
          <a:lstStyle/>
          <a:p>
            <a:pPr indent="0" marL="0">
              <a:buNone/>
            </a:pPr>
            <a:r>
              <a:rPr lang="en-US" sz="600" dirty="0">
                <a:solidFill>
                  <a:srgbClr val="8B949E"/>
                </a:solidFill>
              </a:rPr>
              <a:t>Confidential – Intellectual Property of NIIT Ltd. | © NIIT-StackRoute 2025-2026</a:t>
            </a:r>
            <a:endParaRPr lang="en-US" sz="600" dirty="0"/>
          </a:p>
        </p:txBody>
      </p:sp>
      <p:sp>
        <p:nvSpPr>
          <p:cNvPr id="6" name="Text 4"/>
          <p:cNvSpPr txBox="1"/>
          <p:nvPr/>
        </p:nvSpPr>
        <p:spPr>
          <a:xfrm>
            <a:off x="320040" y="164592"/>
            <a:ext cx="10789920" cy="502920"/>
          </a:xfrm>
          <a:prstGeom prst="rect">
            <a:avLst/>
          </a:prstGeom>
          <a:noFill/>
          <a:ln/>
        </p:spPr>
        <p:txBody>
          <a:bodyPr wrap="square" rtlCol="0" anchor="ctr"/>
          <a:lstStyle/>
          <a:p>
            <a:pPr indent="0" marL="0">
              <a:buNone/>
            </a:pPr>
            <a:r>
              <a:rPr lang="en-US" sz="2400" b="1" dirty="0">
                <a:solidFill>
                  <a:srgbClr val="E95332"/>
                </a:solidFill>
                <a:latin typeface="Candara" pitchFamily="34" charset="0"/>
                <a:ea typeface="Candara" pitchFamily="34" charset="-122"/>
                <a:cs typeface="Candara" pitchFamily="34" charset="-120"/>
              </a:rPr>
              <a:t>EU AI Act — Implementation Timeline 2024–2028</a:t>
            </a:r>
            <a:endParaRPr lang="en-US" sz="2400" dirty="0"/>
          </a:p>
        </p:txBody>
      </p:sp>
      <p:sp>
        <p:nvSpPr>
          <p:cNvPr id="7" name="Shape 5"/>
          <p:cNvSpPr/>
          <p:nvPr/>
        </p:nvSpPr>
        <p:spPr>
          <a:xfrm>
            <a:off x="320040" y="694944"/>
            <a:ext cx="10789920" cy="18288"/>
          </a:xfrm>
          <a:prstGeom prst="rect">
            <a:avLst/>
          </a:prstGeom>
          <a:solidFill>
            <a:srgbClr val="E95332"/>
          </a:solidFill>
          <a:ln w="12700">
            <a:solidFill>
              <a:srgbClr val="E95332"/>
            </a:solidFill>
            <a:prstDash val="solid"/>
          </a:ln>
        </p:spPr>
      </p:sp>
      <p:sp>
        <p:nvSpPr>
          <p:cNvPr id="8" name="Shape 6"/>
          <p:cNvSpPr/>
          <p:nvPr/>
        </p:nvSpPr>
        <p:spPr>
          <a:xfrm>
            <a:off x="320040" y="914400"/>
            <a:ext cx="1920240" cy="566928"/>
          </a:xfrm>
          <a:prstGeom prst="roundRect">
            <a:avLst>
              <a:gd name="adj" fmla="val 9677"/>
            </a:avLst>
          </a:prstGeom>
          <a:solidFill>
            <a:srgbClr val="000000"/>
          </a:solidFill>
          <a:ln w="12700">
            <a:solidFill>
              <a:srgbClr val="16A34A"/>
            </a:solidFill>
            <a:prstDash val="solid"/>
          </a:ln>
        </p:spPr>
      </p:sp>
      <p:sp>
        <p:nvSpPr>
          <p:cNvPr id="9" name="Text 7"/>
          <p:cNvSpPr txBox="1"/>
          <p:nvPr/>
        </p:nvSpPr>
        <p:spPr>
          <a:xfrm>
            <a:off x="384048" y="1024128"/>
            <a:ext cx="1783080" cy="365760"/>
          </a:xfrm>
          <a:prstGeom prst="rect">
            <a:avLst/>
          </a:prstGeom>
          <a:noFill/>
          <a:ln/>
        </p:spPr>
        <p:txBody>
          <a:bodyPr wrap="square" lIns="0" tIns="0" rIns="0" bIns="0" rtlCol="0" anchor="ctr"/>
          <a:lstStyle/>
          <a:p>
            <a:pPr algn="ctr" indent="0" marL="0">
              <a:buNone/>
            </a:pPr>
            <a:r>
              <a:rPr lang="en-US" sz="1050" b="1" dirty="0">
                <a:solidFill>
                  <a:srgbClr val="16A34A"/>
                </a:solidFill>
              </a:rPr>
              <a:t>✅ 1 Aug 2024</a:t>
            </a:r>
            <a:endParaRPr lang="en-US" sz="1050" dirty="0"/>
          </a:p>
        </p:txBody>
      </p:sp>
      <p:sp>
        <p:nvSpPr>
          <p:cNvPr id="10" name="Shape 8"/>
          <p:cNvSpPr/>
          <p:nvPr/>
        </p:nvSpPr>
        <p:spPr>
          <a:xfrm>
            <a:off x="2331720" y="960120"/>
            <a:ext cx="8686800" cy="475488"/>
          </a:xfrm>
          <a:prstGeom prst="roundRect">
            <a:avLst>
              <a:gd name="adj" fmla="val 11538"/>
            </a:avLst>
          </a:prstGeom>
          <a:solidFill>
            <a:srgbClr val="F5F5F5"/>
          </a:solidFill>
          <a:ln w="12700">
            <a:solidFill>
              <a:srgbClr val="D1D5DB"/>
            </a:solidFill>
            <a:prstDash val="solid"/>
          </a:ln>
        </p:spPr>
      </p:sp>
      <p:sp>
        <p:nvSpPr>
          <p:cNvPr id="11" name="Text 9"/>
          <p:cNvSpPr txBox="1"/>
          <p:nvPr/>
        </p:nvSpPr>
        <p:spPr>
          <a:xfrm>
            <a:off x="2450592" y="1005840"/>
            <a:ext cx="8412480" cy="384048"/>
          </a:xfrm>
          <a:prstGeom prst="rect">
            <a:avLst/>
          </a:prstGeom>
          <a:noFill/>
          <a:ln/>
        </p:spPr>
        <p:txBody>
          <a:bodyPr wrap="square" lIns="0" tIns="0" rIns="0" bIns="0" rtlCol="0" anchor="ctr"/>
          <a:lstStyle/>
          <a:p>
            <a:pPr indent="0" marL="0">
              <a:lnSpc>
                <a:spcPts val="1400"/>
              </a:lnSpc>
              <a:buNone/>
            </a:pPr>
            <a:r>
              <a:rPr lang="en-US" sz="1100" dirty="0">
                <a:solidFill>
                  <a:srgbClr val="374151"/>
                </a:solidFill>
              </a:rPr>
              <a:t>AI Act entered into force. 24-month countdown begins for most obligations.</a:t>
            </a:r>
            <a:endParaRPr lang="en-US" sz="1100" dirty="0"/>
          </a:p>
        </p:txBody>
      </p:sp>
      <p:sp>
        <p:nvSpPr>
          <p:cNvPr id="12" name="Shape 10"/>
          <p:cNvSpPr/>
          <p:nvPr/>
        </p:nvSpPr>
        <p:spPr>
          <a:xfrm>
            <a:off x="1298448" y="1481328"/>
            <a:ext cx="0" cy="182880"/>
          </a:xfrm>
          <a:prstGeom prst="line">
            <a:avLst/>
          </a:prstGeom>
          <a:noFill/>
          <a:ln w="12700">
            <a:solidFill>
              <a:srgbClr val="16A34A"/>
            </a:solidFill>
            <a:prstDash val="solid"/>
          </a:ln>
        </p:spPr>
      </p:sp>
      <p:sp>
        <p:nvSpPr>
          <p:cNvPr id="13" name="Shape 11"/>
          <p:cNvSpPr/>
          <p:nvPr/>
        </p:nvSpPr>
        <p:spPr>
          <a:xfrm>
            <a:off x="320040" y="1664208"/>
            <a:ext cx="1920240" cy="566928"/>
          </a:xfrm>
          <a:prstGeom prst="roundRect">
            <a:avLst>
              <a:gd name="adj" fmla="val 9677"/>
            </a:avLst>
          </a:prstGeom>
          <a:solidFill>
            <a:srgbClr val="000000"/>
          </a:solidFill>
          <a:ln w="12700">
            <a:solidFill>
              <a:srgbClr val="16A34A"/>
            </a:solidFill>
            <a:prstDash val="solid"/>
          </a:ln>
        </p:spPr>
      </p:sp>
      <p:sp>
        <p:nvSpPr>
          <p:cNvPr id="14" name="Text 12"/>
          <p:cNvSpPr txBox="1"/>
          <p:nvPr/>
        </p:nvSpPr>
        <p:spPr>
          <a:xfrm>
            <a:off x="384048" y="1773936"/>
            <a:ext cx="1783080" cy="365760"/>
          </a:xfrm>
          <a:prstGeom prst="rect">
            <a:avLst/>
          </a:prstGeom>
          <a:noFill/>
          <a:ln/>
        </p:spPr>
        <p:txBody>
          <a:bodyPr wrap="square" lIns="0" tIns="0" rIns="0" bIns="0" rtlCol="0" anchor="ctr"/>
          <a:lstStyle/>
          <a:p>
            <a:pPr algn="ctr" indent="0" marL="0">
              <a:buNone/>
            </a:pPr>
            <a:r>
              <a:rPr lang="en-US" sz="1050" b="1" dirty="0">
                <a:solidFill>
                  <a:srgbClr val="16A34A"/>
                </a:solidFill>
              </a:rPr>
              <a:t>✅ 2 Feb 2025</a:t>
            </a:r>
            <a:endParaRPr lang="en-US" sz="1050" dirty="0"/>
          </a:p>
        </p:txBody>
      </p:sp>
      <p:sp>
        <p:nvSpPr>
          <p:cNvPr id="15" name="Shape 13"/>
          <p:cNvSpPr/>
          <p:nvPr/>
        </p:nvSpPr>
        <p:spPr>
          <a:xfrm>
            <a:off x="2331720" y="1709928"/>
            <a:ext cx="8686800" cy="475488"/>
          </a:xfrm>
          <a:prstGeom prst="roundRect">
            <a:avLst>
              <a:gd name="adj" fmla="val 11538"/>
            </a:avLst>
          </a:prstGeom>
          <a:solidFill>
            <a:srgbClr val="F5F5F5"/>
          </a:solidFill>
          <a:ln w="12700">
            <a:solidFill>
              <a:srgbClr val="D1D5DB"/>
            </a:solidFill>
            <a:prstDash val="solid"/>
          </a:ln>
        </p:spPr>
      </p:sp>
      <p:sp>
        <p:nvSpPr>
          <p:cNvPr id="16" name="Text 14"/>
          <p:cNvSpPr txBox="1"/>
          <p:nvPr/>
        </p:nvSpPr>
        <p:spPr>
          <a:xfrm>
            <a:off x="2450592" y="1755648"/>
            <a:ext cx="8412480" cy="384048"/>
          </a:xfrm>
          <a:prstGeom prst="rect">
            <a:avLst/>
          </a:prstGeom>
          <a:noFill/>
          <a:ln/>
        </p:spPr>
        <p:txBody>
          <a:bodyPr wrap="square" lIns="0" tIns="0" rIns="0" bIns="0" rtlCol="0" anchor="ctr"/>
          <a:lstStyle/>
          <a:p>
            <a:pPr indent="0" marL="0">
              <a:lnSpc>
                <a:spcPts val="1400"/>
              </a:lnSpc>
              <a:buNone/>
            </a:pPr>
            <a:r>
              <a:rPr lang="en-US" sz="1100" dirty="0">
                <a:solidFill>
                  <a:srgbClr val="374151"/>
                </a:solidFill>
              </a:rPr>
              <a:t>Art. 5 prohibitions apply: social scoring, biometric surveillance, manipulative AI, emotion recognition in workplaces/schools.</a:t>
            </a:r>
            <a:endParaRPr lang="en-US" sz="1100" dirty="0"/>
          </a:p>
        </p:txBody>
      </p:sp>
      <p:sp>
        <p:nvSpPr>
          <p:cNvPr id="17" name="Shape 15"/>
          <p:cNvSpPr/>
          <p:nvPr/>
        </p:nvSpPr>
        <p:spPr>
          <a:xfrm>
            <a:off x="1298448" y="2231136"/>
            <a:ext cx="0" cy="182880"/>
          </a:xfrm>
          <a:prstGeom prst="line">
            <a:avLst/>
          </a:prstGeom>
          <a:noFill/>
          <a:ln w="12700">
            <a:solidFill>
              <a:srgbClr val="16A34A"/>
            </a:solidFill>
            <a:prstDash val="solid"/>
          </a:ln>
        </p:spPr>
      </p:sp>
      <p:sp>
        <p:nvSpPr>
          <p:cNvPr id="18" name="Shape 16"/>
          <p:cNvSpPr/>
          <p:nvPr/>
        </p:nvSpPr>
        <p:spPr>
          <a:xfrm>
            <a:off x="320040" y="2414016"/>
            <a:ext cx="1920240" cy="566928"/>
          </a:xfrm>
          <a:prstGeom prst="roundRect">
            <a:avLst>
              <a:gd name="adj" fmla="val 9677"/>
            </a:avLst>
          </a:prstGeom>
          <a:solidFill>
            <a:srgbClr val="000000"/>
          </a:solidFill>
          <a:ln w="12700">
            <a:solidFill>
              <a:srgbClr val="16A34A"/>
            </a:solidFill>
            <a:prstDash val="solid"/>
          </a:ln>
        </p:spPr>
      </p:sp>
      <p:sp>
        <p:nvSpPr>
          <p:cNvPr id="19" name="Text 17"/>
          <p:cNvSpPr txBox="1"/>
          <p:nvPr/>
        </p:nvSpPr>
        <p:spPr>
          <a:xfrm>
            <a:off x="384048" y="2523744"/>
            <a:ext cx="1783080" cy="365760"/>
          </a:xfrm>
          <a:prstGeom prst="rect">
            <a:avLst/>
          </a:prstGeom>
          <a:noFill/>
          <a:ln/>
        </p:spPr>
        <p:txBody>
          <a:bodyPr wrap="square" lIns="0" tIns="0" rIns="0" bIns="0" rtlCol="0" anchor="ctr"/>
          <a:lstStyle/>
          <a:p>
            <a:pPr algn="ctr" indent="0" marL="0">
              <a:buNone/>
            </a:pPr>
            <a:r>
              <a:rPr lang="en-US" sz="1050" b="1" dirty="0">
                <a:solidFill>
                  <a:srgbClr val="16A34A"/>
                </a:solidFill>
              </a:rPr>
              <a:t>✅ 2 Aug 2025</a:t>
            </a:r>
            <a:endParaRPr lang="en-US" sz="1050" dirty="0"/>
          </a:p>
        </p:txBody>
      </p:sp>
      <p:sp>
        <p:nvSpPr>
          <p:cNvPr id="20" name="Shape 18"/>
          <p:cNvSpPr/>
          <p:nvPr/>
        </p:nvSpPr>
        <p:spPr>
          <a:xfrm>
            <a:off x="2331720" y="2459736"/>
            <a:ext cx="8686800" cy="475488"/>
          </a:xfrm>
          <a:prstGeom prst="roundRect">
            <a:avLst>
              <a:gd name="adj" fmla="val 11538"/>
            </a:avLst>
          </a:prstGeom>
          <a:solidFill>
            <a:srgbClr val="F5F5F5"/>
          </a:solidFill>
          <a:ln w="12700">
            <a:solidFill>
              <a:srgbClr val="D1D5DB"/>
            </a:solidFill>
            <a:prstDash val="solid"/>
          </a:ln>
        </p:spPr>
      </p:sp>
      <p:sp>
        <p:nvSpPr>
          <p:cNvPr id="21" name="Text 19"/>
          <p:cNvSpPr txBox="1"/>
          <p:nvPr/>
        </p:nvSpPr>
        <p:spPr>
          <a:xfrm>
            <a:off x="2450592" y="2505456"/>
            <a:ext cx="8412480" cy="384048"/>
          </a:xfrm>
          <a:prstGeom prst="rect">
            <a:avLst/>
          </a:prstGeom>
          <a:noFill/>
          <a:ln/>
        </p:spPr>
        <p:txBody>
          <a:bodyPr wrap="square" lIns="0" tIns="0" rIns="0" bIns="0" rtlCol="0" anchor="ctr"/>
          <a:lstStyle/>
          <a:p>
            <a:pPr indent="0" marL="0">
              <a:lnSpc>
                <a:spcPts val="1400"/>
              </a:lnSpc>
              <a:buNone/>
            </a:pPr>
            <a:r>
              <a:rPr lang="en-US" sz="1100" dirty="0">
                <a:solidFill>
                  <a:srgbClr val="374151"/>
                </a:solidFill>
              </a:rPr>
              <a:t>GPAI Chapter V obligations apply. Code of Practice declared adequate (1 Aug 2025). 20+ providers signed up.</a:t>
            </a:r>
            <a:endParaRPr lang="en-US" sz="1100" dirty="0"/>
          </a:p>
        </p:txBody>
      </p:sp>
      <p:sp>
        <p:nvSpPr>
          <p:cNvPr id="22" name="Shape 20"/>
          <p:cNvSpPr/>
          <p:nvPr/>
        </p:nvSpPr>
        <p:spPr>
          <a:xfrm>
            <a:off x="1298448" y="2980944"/>
            <a:ext cx="0" cy="182880"/>
          </a:xfrm>
          <a:prstGeom prst="line">
            <a:avLst/>
          </a:prstGeom>
          <a:noFill/>
          <a:ln w="12700">
            <a:solidFill>
              <a:srgbClr val="16A34A"/>
            </a:solidFill>
            <a:prstDash val="solid"/>
          </a:ln>
        </p:spPr>
      </p:sp>
      <p:sp>
        <p:nvSpPr>
          <p:cNvPr id="23" name="Shape 21"/>
          <p:cNvSpPr/>
          <p:nvPr/>
        </p:nvSpPr>
        <p:spPr>
          <a:xfrm>
            <a:off x="320040" y="3163824"/>
            <a:ext cx="1920240" cy="566928"/>
          </a:xfrm>
          <a:prstGeom prst="roundRect">
            <a:avLst>
              <a:gd name="adj" fmla="val 9677"/>
            </a:avLst>
          </a:prstGeom>
          <a:solidFill>
            <a:srgbClr val="000000"/>
          </a:solidFill>
          <a:ln w="12700">
            <a:solidFill>
              <a:srgbClr val="16A34A"/>
            </a:solidFill>
            <a:prstDash val="solid"/>
          </a:ln>
        </p:spPr>
      </p:sp>
      <p:sp>
        <p:nvSpPr>
          <p:cNvPr id="24" name="Text 22"/>
          <p:cNvSpPr txBox="1"/>
          <p:nvPr/>
        </p:nvSpPr>
        <p:spPr>
          <a:xfrm>
            <a:off x="384048" y="3273552"/>
            <a:ext cx="1783080" cy="365760"/>
          </a:xfrm>
          <a:prstGeom prst="rect">
            <a:avLst/>
          </a:prstGeom>
          <a:noFill/>
          <a:ln/>
        </p:spPr>
        <p:txBody>
          <a:bodyPr wrap="square" lIns="0" tIns="0" rIns="0" bIns="0" rtlCol="0" anchor="ctr"/>
          <a:lstStyle/>
          <a:p>
            <a:pPr algn="ctr" indent="0" marL="0">
              <a:buNone/>
            </a:pPr>
            <a:r>
              <a:rPr lang="en-US" sz="1050" b="1" dirty="0">
                <a:solidFill>
                  <a:srgbClr val="16A34A"/>
                </a:solidFill>
              </a:rPr>
              <a:t>✅ 2 Aug 2026</a:t>
            </a:r>
            <a:endParaRPr lang="en-US" sz="1050" dirty="0"/>
          </a:p>
        </p:txBody>
      </p:sp>
      <p:sp>
        <p:nvSpPr>
          <p:cNvPr id="25" name="Shape 23"/>
          <p:cNvSpPr/>
          <p:nvPr/>
        </p:nvSpPr>
        <p:spPr>
          <a:xfrm>
            <a:off x="2331720" y="3209544"/>
            <a:ext cx="8686800" cy="475488"/>
          </a:xfrm>
          <a:prstGeom prst="roundRect">
            <a:avLst>
              <a:gd name="adj" fmla="val 11538"/>
            </a:avLst>
          </a:prstGeom>
          <a:solidFill>
            <a:srgbClr val="F5F5F5"/>
          </a:solidFill>
          <a:ln w="12700">
            <a:solidFill>
              <a:srgbClr val="D1D5DB"/>
            </a:solidFill>
            <a:prstDash val="solid"/>
          </a:ln>
        </p:spPr>
      </p:sp>
      <p:sp>
        <p:nvSpPr>
          <p:cNvPr id="26" name="Text 24"/>
          <p:cNvSpPr txBox="1"/>
          <p:nvPr/>
        </p:nvSpPr>
        <p:spPr>
          <a:xfrm>
            <a:off x="2450592" y="3255264"/>
            <a:ext cx="8412480" cy="384048"/>
          </a:xfrm>
          <a:prstGeom prst="rect">
            <a:avLst/>
          </a:prstGeom>
          <a:noFill/>
          <a:ln/>
        </p:spPr>
        <p:txBody>
          <a:bodyPr wrap="square" lIns="0" tIns="0" rIns="0" bIns="0" rtlCol="0" anchor="ctr"/>
          <a:lstStyle/>
          <a:p>
            <a:pPr indent="0" marL="0">
              <a:lnSpc>
                <a:spcPts val="1400"/>
              </a:lnSpc>
              <a:buNone/>
            </a:pPr>
            <a:r>
              <a:rPr lang="en-US" sz="1100" dirty="0">
                <a:solidFill>
                  <a:srgbClr val="374151"/>
                </a:solidFill>
              </a:rPr>
              <a:t>EU AI Office enforcement powers activated. Art. 50 transparency rules apply: chatbot disclosure, deepfake labelling.</a:t>
            </a:r>
            <a:endParaRPr lang="en-US" sz="1100" dirty="0"/>
          </a:p>
        </p:txBody>
      </p:sp>
      <p:sp>
        <p:nvSpPr>
          <p:cNvPr id="27" name="Shape 25"/>
          <p:cNvSpPr/>
          <p:nvPr/>
        </p:nvSpPr>
        <p:spPr>
          <a:xfrm>
            <a:off x="1298448" y="3730752"/>
            <a:ext cx="0" cy="182880"/>
          </a:xfrm>
          <a:prstGeom prst="line">
            <a:avLst/>
          </a:prstGeom>
          <a:noFill/>
          <a:ln w="12700">
            <a:solidFill>
              <a:srgbClr val="16A34A"/>
            </a:solidFill>
            <a:prstDash val="solid"/>
          </a:ln>
        </p:spPr>
      </p:sp>
      <p:sp>
        <p:nvSpPr>
          <p:cNvPr id="28" name="Shape 26"/>
          <p:cNvSpPr/>
          <p:nvPr/>
        </p:nvSpPr>
        <p:spPr>
          <a:xfrm>
            <a:off x="320040" y="3913632"/>
            <a:ext cx="1920240" cy="566928"/>
          </a:xfrm>
          <a:prstGeom prst="roundRect">
            <a:avLst>
              <a:gd name="adj" fmla="val 9677"/>
            </a:avLst>
          </a:prstGeom>
          <a:solidFill>
            <a:srgbClr val="000000"/>
          </a:solidFill>
          <a:ln w="12700">
            <a:solidFill>
              <a:srgbClr val="D97706"/>
            </a:solidFill>
            <a:prstDash val="solid"/>
          </a:ln>
        </p:spPr>
      </p:sp>
      <p:sp>
        <p:nvSpPr>
          <p:cNvPr id="29" name="Text 27"/>
          <p:cNvSpPr txBox="1"/>
          <p:nvPr/>
        </p:nvSpPr>
        <p:spPr>
          <a:xfrm>
            <a:off x="384048" y="4023360"/>
            <a:ext cx="1783080" cy="365760"/>
          </a:xfrm>
          <a:prstGeom prst="rect">
            <a:avLst/>
          </a:prstGeom>
          <a:noFill/>
          <a:ln/>
        </p:spPr>
        <p:txBody>
          <a:bodyPr wrap="square" lIns="0" tIns="0" rIns="0" bIns="0" rtlCol="0" anchor="ctr"/>
          <a:lstStyle/>
          <a:p>
            <a:pPr algn="ctr" indent="0" marL="0">
              <a:buNone/>
            </a:pPr>
            <a:r>
              <a:rPr lang="en-US" sz="1050" b="1" dirty="0">
                <a:solidFill>
                  <a:srgbClr val="D97706"/>
                </a:solidFill>
              </a:rPr>
              <a:t>⏳ 2 Dec 2026</a:t>
            </a:r>
            <a:endParaRPr lang="en-US" sz="1050" dirty="0"/>
          </a:p>
        </p:txBody>
      </p:sp>
      <p:sp>
        <p:nvSpPr>
          <p:cNvPr id="30" name="Shape 28"/>
          <p:cNvSpPr/>
          <p:nvPr/>
        </p:nvSpPr>
        <p:spPr>
          <a:xfrm>
            <a:off x="2331720" y="3959352"/>
            <a:ext cx="8686800" cy="475488"/>
          </a:xfrm>
          <a:prstGeom prst="roundRect">
            <a:avLst>
              <a:gd name="adj" fmla="val 11538"/>
            </a:avLst>
          </a:prstGeom>
          <a:solidFill>
            <a:srgbClr val="F5F5F5"/>
          </a:solidFill>
          <a:ln w="12700">
            <a:solidFill>
              <a:srgbClr val="D1D5DB"/>
            </a:solidFill>
            <a:prstDash val="solid"/>
          </a:ln>
        </p:spPr>
      </p:sp>
      <p:sp>
        <p:nvSpPr>
          <p:cNvPr id="31" name="Text 29"/>
          <p:cNvSpPr txBox="1"/>
          <p:nvPr/>
        </p:nvSpPr>
        <p:spPr>
          <a:xfrm>
            <a:off x="2450592" y="4005072"/>
            <a:ext cx="8412480" cy="384048"/>
          </a:xfrm>
          <a:prstGeom prst="rect">
            <a:avLst/>
          </a:prstGeom>
          <a:noFill/>
          <a:ln/>
        </p:spPr>
        <p:txBody>
          <a:bodyPr wrap="square" lIns="0" tIns="0" rIns="0" bIns="0" rtlCol="0" anchor="ctr"/>
          <a:lstStyle/>
          <a:p>
            <a:pPr indent="0" marL="0">
              <a:lnSpc>
                <a:spcPts val="1400"/>
              </a:lnSpc>
              <a:buNone/>
            </a:pPr>
            <a:r>
              <a:rPr lang="en-US" sz="1100" dirty="0">
                <a:solidFill>
                  <a:srgbClr val="374151"/>
                </a:solidFill>
              </a:rPr>
              <a:t>Non-consensual intimate imagery and CSAM generation ban applies.</a:t>
            </a:r>
            <a:endParaRPr lang="en-US" sz="1100" dirty="0"/>
          </a:p>
        </p:txBody>
      </p:sp>
      <p:sp>
        <p:nvSpPr>
          <p:cNvPr id="32" name="Shape 30"/>
          <p:cNvSpPr/>
          <p:nvPr/>
        </p:nvSpPr>
        <p:spPr>
          <a:xfrm>
            <a:off x="1298448" y="4480560"/>
            <a:ext cx="0" cy="182880"/>
          </a:xfrm>
          <a:prstGeom prst="line">
            <a:avLst/>
          </a:prstGeom>
          <a:noFill/>
          <a:ln w="12700">
            <a:solidFill>
              <a:srgbClr val="D97706"/>
            </a:solidFill>
            <a:prstDash val="solid"/>
          </a:ln>
        </p:spPr>
      </p:sp>
      <p:sp>
        <p:nvSpPr>
          <p:cNvPr id="33" name="Shape 31"/>
          <p:cNvSpPr/>
          <p:nvPr/>
        </p:nvSpPr>
        <p:spPr>
          <a:xfrm>
            <a:off x="320040" y="4663440"/>
            <a:ext cx="1920240" cy="566928"/>
          </a:xfrm>
          <a:prstGeom prst="roundRect">
            <a:avLst>
              <a:gd name="adj" fmla="val 9677"/>
            </a:avLst>
          </a:prstGeom>
          <a:solidFill>
            <a:srgbClr val="000000"/>
          </a:solidFill>
          <a:ln w="12700">
            <a:solidFill>
              <a:srgbClr val="D97706"/>
            </a:solidFill>
            <a:prstDash val="solid"/>
          </a:ln>
        </p:spPr>
      </p:sp>
      <p:sp>
        <p:nvSpPr>
          <p:cNvPr id="34" name="Text 32"/>
          <p:cNvSpPr txBox="1"/>
          <p:nvPr/>
        </p:nvSpPr>
        <p:spPr>
          <a:xfrm>
            <a:off x="384048" y="4773168"/>
            <a:ext cx="1783080" cy="365760"/>
          </a:xfrm>
          <a:prstGeom prst="rect">
            <a:avLst/>
          </a:prstGeom>
          <a:noFill/>
          <a:ln/>
        </p:spPr>
        <p:txBody>
          <a:bodyPr wrap="square" lIns="0" tIns="0" rIns="0" bIns="0" rtlCol="0" anchor="ctr"/>
          <a:lstStyle/>
          <a:p>
            <a:pPr algn="ctr" indent="0" marL="0">
              <a:buNone/>
            </a:pPr>
            <a:r>
              <a:rPr lang="en-US" sz="1050" b="1" dirty="0">
                <a:solidFill>
                  <a:srgbClr val="D97706"/>
                </a:solidFill>
              </a:rPr>
              <a:t>⏳ 2 Dec 2027</a:t>
            </a:r>
            <a:endParaRPr lang="en-US" sz="1050" dirty="0"/>
          </a:p>
        </p:txBody>
      </p:sp>
      <p:sp>
        <p:nvSpPr>
          <p:cNvPr id="35" name="Shape 33"/>
          <p:cNvSpPr/>
          <p:nvPr/>
        </p:nvSpPr>
        <p:spPr>
          <a:xfrm>
            <a:off x="2331720" y="4709160"/>
            <a:ext cx="8686800" cy="475488"/>
          </a:xfrm>
          <a:prstGeom prst="roundRect">
            <a:avLst>
              <a:gd name="adj" fmla="val 11538"/>
            </a:avLst>
          </a:prstGeom>
          <a:solidFill>
            <a:srgbClr val="F5F5F5"/>
          </a:solidFill>
          <a:ln w="12700">
            <a:solidFill>
              <a:srgbClr val="D1D5DB"/>
            </a:solidFill>
            <a:prstDash val="solid"/>
          </a:ln>
        </p:spPr>
      </p:sp>
      <p:sp>
        <p:nvSpPr>
          <p:cNvPr id="36" name="Text 34"/>
          <p:cNvSpPr txBox="1"/>
          <p:nvPr/>
        </p:nvSpPr>
        <p:spPr>
          <a:xfrm>
            <a:off x="2450592" y="4754880"/>
            <a:ext cx="8412480" cy="384048"/>
          </a:xfrm>
          <a:prstGeom prst="rect">
            <a:avLst/>
          </a:prstGeom>
          <a:noFill/>
          <a:ln/>
        </p:spPr>
        <p:txBody>
          <a:bodyPr wrap="square" lIns="0" tIns="0" rIns="0" bIns="0" rtlCol="0" anchor="ctr"/>
          <a:lstStyle/>
          <a:p>
            <a:pPr indent="0" marL="0">
              <a:lnSpc>
                <a:spcPts val="1400"/>
              </a:lnSpc>
              <a:buNone/>
            </a:pPr>
            <a:r>
              <a:rPr lang="en-US" sz="1100" dirty="0">
                <a:solidFill>
                  <a:srgbClr val="374151"/>
                </a:solidFill>
              </a:rPr>
              <a:t>Annex III High-Risk AI obligations: HR screening, credit scoring, education, law enforcement, border control.</a:t>
            </a:r>
            <a:endParaRPr lang="en-US" sz="1100" dirty="0"/>
          </a:p>
        </p:txBody>
      </p:sp>
      <p:sp>
        <p:nvSpPr>
          <p:cNvPr id="37" name="Shape 35"/>
          <p:cNvSpPr/>
          <p:nvPr/>
        </p:nvSpPr>
        <p:spPr>
          <a:xfrm>
            <a:off x="1298448" y="5230368"/>
            <a:ext cx="0" cy="182880"/>
          </a:xfrm>
          <a:prstGeom prst="line">
            <a:avLst/>
          </a:prstGeom>
          <a:noFill/>
          <a:ln w="12700">
            <a:solidFill>
              <a:srgbClr val="D97706"/>
            </a:solidFill>
            <a:prstDash val="solid"/>
          </a:ln>
        </p:spPr>
      </p:sp>
      <p:sp>
        <p:nvSpPr>
          <p:cNvPr id="38" name="Shape 36"/>
          <p:cNvSpPr/>
          <p:nvPr/>
        </p:nvSpPr>
        <p:spPr>
          <a:xfrm>
            <a:off x="320040" y="5413248"/>
            <a:ext cx="1920240" cy="566928"/>
          </a:xfrm>
          <a:prstGeom prst="roundRect">
            <a:avLst>
              <a:gd name="adj" fmla="val 9677"/>
            </a:avLst>
          </a:prstGeom>
          <a:solidFill>
            <a:srgbClr val="000000"/>
          </a:solidFill>
          <a:ln w="12700">
            <a:solidFill>
              <a:srgbClr val="D97706"/>
            </a:solidFill>
            <a:prstDash val="solid"/>
          </a:ln>
        </p:spPr>
      </p:sp>
      <p:sp>
        <p:nvSpPr>
          <p:cNvPr id="39" name="Text 37"/>
          <p:cNvSpPr txBox="1"/>
          <p:nvPr/>
        </p:nvSpPr>
        <p:spPr>
          <a:xfrm>
            <a:off x="384048" y="5522976"/>
            <a:ext cx="1783080" cy="365760"/>
          </a:xfrm>
          <a:prstGeom prst="rect">
            <a:avLst/>
          </a:prstGeom>
          <a:noFill/>
          <a:ln/>
        </p:spPr>
        <p:txBody>
          <a:bodyPr wrap="square" lIns="0" tIns="0" rIns="0" bIns="0" rtlCol="0" anchor="ctr"/>
          <a:lstStyle/>
          <a:p>
            <a:pPr algn="ctr" indent="0" marL="0">
              <a:buNone/>
            </a:pPr>
            <a:r>
              <a:rPr lang="en-US" sz="1050" b="1" dirty="0">
                <a:solidFill>
                  <a:srgbClr val="D97706"/>
                </a:solidFill>
              </a:rPr>
              <a:t>⏳ 2 Aug 2028</a:t>
            </a:r>
            <a:endParaRPr lang="en-US" sz="1050" dirty="0"/>
          </a:p>
        </p:txBody>
      </p:sp>
      <p:sp>
        <p:nvSpPr>
          <p:cNvPr id="40" name="Shape 38"/>
          <p:cNvSpPr/>
          <p:nvPr/>
        </p:nvSpPr>
        <p:spPr>
          <a:xfrm>
            <a:off x="2331720" y="5458968"/>
            <a:ext cx="8686800" cy="475488"/>
          </a:xfrm>
          <a:prstGeom prst="roundRect">
            <a:avLst>
              <a:gd name="adj" fmla="val 11538"/>
            </a:avLst>
          </a:prstGeom>
          <a:solidFill>
            <a:srgbClr val="F5F5F5"/>
          </a:solidFill>
          <a:ln w="12700">
            <a:solidFill>
              <a:srgbClr val="D1D5DB"/>
            </a:solidFill>
            <a:prstDash val="solid"/>
          </a:ln>
        </p:spPr>
      </p:sp>
      <p:sp>
        <p:nvSpPr>
          <p:cNvPr id="41" name="Text 39"/>
          <p:cNvSpPr txBox="1"/>
          <p:nvPr/>
        </p:nvSpPr>
        <p:spPr>
          <a:xfrm>
            <a:off x="2450592" y="5504688"/>
            <a:ext cx="8412480" cy="384048"/>
          </a:xfrm>
          <a:prstGeom prst="rect">
            <a:avLst/>
          </a:prstGeom>
          <a:noFill/>
          <a:ln/>
        </p:spPr>
        <p:txBody>
          <a:bodyPr wrap="square" lIns="0" tIns="0" rIns="0" bIns="0" rtlCol="0" anchor="ctr"/>
          <a:lstStyle/>
          <a:p>
            <a:pPr indent="0" marL="0">
              <a:lnSpc>
                <a:spcPts val="1400"/>
              </a:lnSpc>
              <a:buNone/>
            </a:pPr>
            <a:r>
              <a:rPr lang="en-US" sz="1100" dirty="0">
                <a:solidFill>
                  <a:srgbClr val="374151"/>
                </a:solidFill>
              </a:rPr>
              <a:t>Annex I High-Risk AI obligations: safety components in products (machinery, medical devices, vehicles).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E95332"/>
          </a:solidFill>
          <a:ln w="12700">
            <a:solidFill>
              <a:srgbClr val="E95332"/>
            </a:solidFill>
            <a:prstDash val="solid"/>
          </a:ln>
        </p:spPr>
      </p:sp>
      <p:sp>
        <p:nvSpPr>
          <p:cNvPr id="3" name="Shape 1"/>
          <p:cNvSpPr/>
          <p:nvPr/>
        </p:nvSpPr>
        <p:spPr>
          <a:xfrm>
            <a:off x="11430000" y="0"/>
            <a:ext cx="758952" cy="6858000"/>
          </a:xfrm>
          <a:prstGeom prst="rect">
            <a:avLst/>
          </a:prstGeom>
          <a:solidFill>
            <a:srgbClr val="1F2739"/>
          </a:solidFill>
          <a:ln w="12700">
            <a:solidFill>
              <a:srgbClr val="1F2739"/>
            </a:solidFill>
            <a:prstDash val="solid"/>
          </a:ln>
        </p:spPr>
      </p:sp>
      <p:sp>
        <p:nvSpPr>
          <p:cNvPr id="4" name="Text 2"/>
          <p:cNvSpPr txBox="1"/>
          <p:nvPr/>
        </p:nvSpPr>
        <p:spPr>
          <a:xfrm>
            <a:off x="11448288" y="137160"/>
            <a:ext cx="731520" cy="1463040"/>
          </a:xfrm>
          <a:prstGeom prst="rect">
            <a:avLst/>
          </a:prstGeom>
          <a:noFill/>
          <a:ln/>
        </p:spPr>
        <p:txBody>
          <a:bodyPr wrap="square" lIns="0" tIns="0" rIns="0" bIns="0" rtlCol="0" anchor="ctr"/>
          <a:lstStyle/>
          <a:p>
            <a:pPr algn="ctr" indent="0" marL="0">
              <a:buNone/>
            </a:pPr>
            <a:r>
              <a:rPr lang="en-US" sz="800" b="1" dirty="0">
                <a:solidFill>
                  <a:srgbClr val="E95332"/>
                </a:solidFill>
              </a:rPr>
              <a:t>STA
</a:t>
            </a:r>
            <a:pPr algn="ctr" indent="0" marL="0">
              <a:buNone/>
            </a:pPr>
            <a:r>
              <a:rPr lang="en-US" sz="800" b="1" dirty="0">
                <a:solidFill>
                  <a:srgbClr val="E95332"/>
                </a:solidFill>
              </a:rPr>
              <a:t>CK
</a:t>
            </a:r>
            <a:pPr algn="ctr" indent="0" marL="0">
              <a:buNone/>
            </a:pPr>
            <a:r>
              <a:rPr lang="en-US" sz="600" b="1" dirty="0">
                <a:solidFill>
                  <a:srgbClr val="E95332"/>
                </a:solidFill>
              </a:rPr>
              <a:t>ROUTE
</a:t>
            </a:r>
            <a:pPr algn="ctr" indent="0" marL="0">
              <a:buNone/>
            </a:pPr>
            <a:r>
              <a:rPr lang="en-US" sz="500" dirty="0">
                <a:solidFill>
                  <a:srgbClr val="FFFFFF"/>
                </a:solidFill>
              </a:rPr>
              <a:t>AN
</a:t>
            </a:r>
            <a:pPr algn="ctr" indent="0" marL="0">
              <a:buNone/>
            </a:pPr>
            <a:r>
              <a:rPr lang="en-US" sz="700" b="1" dirty="0">
                <a:solidFill>
                  <a:srgbClr val="FFFFFF"/>
                </a:solidFill>
              </a:rPr>
              <a:t>NIIT
</a:t>
            </a:r>
            <a:pPr algn="ctr" indent="0" marL="0">
              <a:buNone/>
            </a:pPr>
            <a:r>
              <a:rPr lang="en-US" sz="400" dirty="0">
                <a:solidFill>
                  <a:srgbClr val="FFFFFF"/>
                </a:solidFill>
              </a:rPr>
              <a:t>VENTURE</a:t>
            </a:r>
            <a:endParaRPr lang="en-US" sz="800" dirty="0"/>
          </a:p>
        </p:txBody>
      </p:sp>
      <p:sp>
        <p:nvSpPr>
          <p:cNvPr id="5" name="Text 3"/>
          <p:cNvSpPr txBox="1"/>
          <p:nvPr/>
        </p:nvSpPr>
        <p:spPr>
          <a:xfrm>
            <a:off x="274320" y="6309360"/>
            <a:ext cx="10881360" cy="228600"/>
          </a:xfrm>
          <a:prstGeom prst="rect">
            <a:avLst/>
          </a:prstGeom>
          <a:noFill/>
          <a:ln/>
        </p:spPr>
        <p:txBody>
          <a:bodyPr wrap="square" rtlCol="0" anchor="ctr"/>
          <a:lstStyle/>
          <a:p>
            <a:pPr indent="0" marL="0">
              <a:buNone/>
            </a:pPr>
            <a:r>
              <a:rPr lang="en-US" sz="600" dirty="0">
                <a:solidFill>
                  <a:srgbClr val="8B949E"/>
                </a:solidFill>
              </a:rPr>
              <a:t>Confidential – Intellectual Property of NIIT Ltd. | © NIIT-StackRoute 2025-2026</a:t>
            </a:r>
            <a:endParaRPr lang="en-US" sz="600" dirty="0"/>
          </a:p>
        </p:txBody>
      </p:sp>
      <p:sp>
        <p:nvSpPr>
          <p:cNvPr id="6" name="Text 4"/>
          <p:cNvSpPr txBox="1"/>
          <p:nvPr/>
        </p:nvSpPr>
        <p:spPr>
          <a:xfrm>
            <a:off x="320040" y="164592"/>
            <a:ext cx="10789920" cy="502920"/>
          </a:xfrm>
          <a:prstGeom prst="rect">
            <a:avLst/>
          </a:prstGeom>
          <a:noFill/>
          <a:ln/>
        </p:spPr>
        <p:txBody>
          <a:bodyPr wrap="square" rtlCol="0" anchor="ctr"/>
          <a:lstStyle/>
          <a:p>
            <a:pPr indent="0" marL="0">
              <a:buNone/>
            </a:pPr>
            <a:r>
              <a:rPr lang="en-US" sz="2400" b="1" dirty="0">
                <a:solidFill>
                  <a:srgbClr val="E95332"/>
                </a:solidFill>
                <a:latin typeface="Candara" pitchFamily="34" charset="0"/>
                <a:ea typeface="Candara" pitchFamily="34" charset="-122"/>
                <a:cs typeface="Candara" pitchFamily="34" charset="-120"/>
              </a:rPr>
              <a:t>MITRE ATLAS &amp; EU AI Act — The Compliance-Security Bridge</a:t>
            </a:r>
            <a:endParaRPr lang="en-US" sz="2400" dirty="0"/>
          </a:p>
        </p:txBody>
      </p:sp>
      <p:sp>
        <p:nvSpPr>
          <p:cNvPr id="7" name="Shape 5"/>
          <p:cNvSpPr/>
          <p:nvPr/>
        </p:nvSpPr>
        <p:spPr>
          <a:xfrm>
            <a:off x="320040" y="694944"/>
            <a:ext cx="10789920" cy="18288"/>
          </a:xfrm>
          <a:prstGeom prst="rect">
            <a:avLst/>
          </a:prstGeom>
          <a:solidFill>
            <a:srgbClr val="E95332"/>
          </a:solidFill>
          <a:ln w="12700">
            <a:solidFill>
              <a:srgbClr val="E95332"/>
            </a:solidFill>
            <a:prstDash val="solid"/>
          </a:ln>
        </p:spPr>
      </p:sp>
      <p:sp>
        <p:nvSpPr>
          <p:cNvPr id="8" name="Shape 6"/>
          <p:cNvSpPr/>
          <p:nvPr/>
        </p:nvSpPr>
        <p:spPr>
          <a:xfrm>
            <a:off x="320040" y="841248"/>
            <a:ext cx="10789920" cy="566928"/>
          </a:xfrm>
          <a:prstGeom prst="roundRect">
            <a:avLst>
              <a:gd name="adj" fmla="val 11290"/>
            </a:avLst>
          </a:prstGeom>
          <a:solidFill>
            <a:srgbClr val="FFF7ED"/>
          </a:solidFill>
          <a:ln w="12700">
            <a:solidFill>
              <a:srgbClr val="000000"/>
            </a:solidFill>
            <a:prstDash val="solid"/>
          </a:ln>
        </p:spPr>
      </p:sp>
      <p:sp>
        <p:nvSpPr>
          <p:cNvPr id="9" name="Text 7"/>
          <p:cNvSpPr txBox="1"/>
          <p:nvPr/>
        </p:nvSpPr>
        <p:spPr>
          <a:xfrm>
            <a:off x="457200" y="877824"/>
            <a:ext cx="10515600" cy="493776"/>
          </a:xfrm>
          <a:prstGeom prst="rect">
            <a:avLst/>
          </a:prstGeom>
          <a:noFill/>
          <a:ln/>
        </p:spPr>
        <p:txBody>
          <a:bodyPr wrap="square" lIns="0" tIns="0" rIns="0" bIns="0" rtlCol="0" anchor="ctr"/>
          <a:lstStyle/>
          <a:p>
            <a:pPr indent="0" marL="0">
              <a:lnSpc>
                <a:spcPts val="1500"/>
              </a:lnSpc>
              <a:buNone/>
            </a:pPr>
            <a:r>
              <a:rPr lang="en-US" sz="1200" dirty="0">
                <a:solidFill>
                  <a:srgbClr val="92400E"/>
                </a:solidFill>
              </a:rPr>
              <a:t>The EU AI Act requires adversarial testing, cybersecurity protections, and incident reporting for GPAI systemic-risk models. MITRE ATLAS provides the exact methodology. They are not competing frameworks — EU AI Act tells you WHAT you must do; ATLAS tells you HOW.</a:t>
            </a:r>
            <a:endParaRPr lang="en-US" sz="1200" dirty="0"/>
          </a:p>
        </p:txBody>
      </p:sp>
      <p:sp>
        <p:nvSpPr>
          <p:cNvPr id="10" name="Shape 8"/>
          <p:cNvSpPr/>
          <p:nvPr/>
        </p:nvSpPr>
        <p:spPr>
          <a:xfrm>
            <a:off x="320040" y="1490472"/>
            <a:ext cx="3657600" cy="320040"/>
          </a:xfrm>
          <a:prstGeom prst="rect">
            <a:avLst/>
          </a:prstGeom>
          <a:solidFill>
            <a:srgbClr val="1F2739"/>
          </a:solidFill>
          <a:ln w="12700">
            <a:solidFill>
              <a:srgbClr val="1F2739"/>
            </a:solidFill>
            <a:prstDash val="solid"/>
          </a:ln>
        </p:spPr>
      </p:sp>
      <p:sp>
        <p:nvSpPr>
          <p:cNvPr id="11" name="Shape 9"/>
          <p:cNvSpPr/>
          <p:nvPr/>
        </p:nvSpPr>
        <p:spPr>
          <a:xfrm>
            <a:off x="4023360" y="1490472"/>
            <a:ext cx="3931920" cy="320040"/>
          </a:xfrm>
          <a:prstGeom prst="rect">
            <a:avLst/>
          </a:prstGeom>
          <a:solidFill>
            <a:srgbClr val="7C3AED"/>
          </a:solidFill>
          <a:ln w="12700">
            <a:solidFill>
              <a:srgbClr val="7C3AED"/>
            </a:solidFill>
            <a:prstDash val="solid"/>
          </a:ln>
        </p:spPr>
      </p:sp>
      <p:sp>
        <p:nvSpPr>
          <p:cNvPr id="12" name="Shape 10"/>
          <p:cNvSpPr/>
          <p:nvPr/>
        </p:nvSpPr>
        <p:spPr>
          <a:xfrm>
            <a:off x="8001000" y="1490472"/>
            <a:ext cx="3108960" cy="320040"/>
          </a:xfrm>
          <a:prstGeom prst="rect">
            <a:avLst/>
          </a:prstGeom>
          <a:solidFill>
            <a:srgbClr val="D97706"/>
          </a:solidFill>
          <a:ln w="12700">
            <a:solidFill>
              <a:srgbClr val="D97706"/>
            </a:solidFill>
            <a:prstDash val="solid"/>
          </a:ln>
        </p:spPr>
      </p:sp>
      <p:sp>
        <p:nvSpPr>
          <p:cNvPr id="13" name="Text 11"/>
          <p:cNvSpPr txBox="1"/>
          <p:nvPr/>
        </p:nvSpPr>
        <p:spPr>
          <a:xfrm>
            <a:off x="411480" y="1527048"/>
            <a:ext cx="3566160" cy="246888"/>
          </a:xfrm>
          <a:prstGeom prst="rect">
            <a:avLst/>
          </a:prstGeom>
          <a:noFill/>
          <a:ln/>
        </p:spPr>
        <p:txBody>
          <a:bodyPr wrap="square" lIns="0" tIns="0" rIns="0" bIns="0" rtlCol="0" anchor="ctr"/>
          <a:lstStyle/>
          <a:p>
            <a:pPr indent="0" marL="0">
              <a:buNone/>
            </a:pPr>
            <a:r>
              <a:rPr lang="en-US" sz="1000" b="1" dirty="0">
                <a:solidFill>
                  <a:srgbClr val="FFFFFF"/>
                </a:solidFill>
              </a:rPr>
              <a:t>EU AI Act Obligation</a:t>
            </a:r>
            <a:endParaRPr lang="en-US" sz="1000" dirty="0"/>
          </a:p>
        </p:txBody>
      </p:sp>
      <p:sp>
        <p:nvSpPr>
          <p:cNvPr id="14" name="Text 12"/>
          <p:cNvSpPr txBox="1"/>
          <p:nvPr/>
        </p:nvSpPr>
        <p:spPr>
          <a:xfrm>
            <a:off x="4114800" y="1527048"/>
            <a:ext cx="3749040" cy="246888"/>
          </a:xfrm>
          <a:prstGeom prst="rect">
            <a:avLst/>
          </a:prstGeom>
          <a:noFill/>
          <a:ln/>
        </p:spPr>
        <p:txBody>
          <a:bodyPr wrap="square" lIns="0" tIns="0" rIns="0" bIns="0" rtlCol="0" anchor="ctr"/>
          <a:lstStyle/>
          <a:p>
            <a:pPr algn="ctr" indent="0" marL="0">
              <a:buNone/>
            </a:pPr>
            <a:r>
              <a:rPr lang="en-US" sz="1000" b="1" dirty="0">
                <a:solidFill>
                  <a:srgbClr val="FFFFFF"/>
                </a:solidFill>
              </a:rPr>
              <a:t>ATLAS Technique Addressed</a:t>
            </a:r>
            <a:endParaRPr lang="en-US" sz="1000" dirty="0"/>
          </a:p>
        </p:txBody>
      </p:sp>
      <p:sp>
        <p:nvSpPr>
          <p:cNvPr id="15" name="Text 13"/>
          <p:cNvSpPr txBox="1"/>
          <p:nvPr/>
        </p:nvSpPr>
        <p:spPr>
          <a:xfrm>
            <a:off x="8092440" y="1527048"/>
            <a:ext cx="2926080" cy="246888"/>
          </a:xfrm>
          <a:prstGeom prst="rect">
            <a:avLst/>
          </a:prstGeom>
          <a:noFill/>
          <a:ln/>
        </p:spPr>
        <p:txBody>
          <a:bodyPr wrap="square" lIns="0" tIns="0" rIns="0" bIns="0" rtlCol="0" anchor="ctr"/>
          <a:lstStyle/>
          <a:p>
            <a:pPr algn="ctr" indent="0" marL="0">
              <a:buNone/>
            </a:pPr>
            <a:r>
              <a:rPr lang="en-US" sz="1000" b="1" dirty="0">
                <a:solidFill>
                  <a:srgbClr val="FFFFFF"/>
                </a:solidFill>
              </a:rPr>
              <a:t>Sentinel Pipeline Stage</a:t>
            </a:r>
            <a:endParaRPr lang="en-US" sz="1000" dirty="0"/>
          </a:p>
        </p:txBody>
      </p:sp>
      <p:sp>
        <p:nvSpPr>
          <p:cNvPr id="16" name="Shape 14"/>
          <p:cNvSpPr/>
          <p:nvPr/>
        </p:nvSpPr>
        <p:spPr>
          <a:xfrm>
            <a:off x="320040" y="1810512"/>
            <a:ext cx="10789920" cy="548640"/>
          </a:xfrm>
          <a:prstGeom prst="rect">
            <a:avLst/>
          </a:prstGeom>
          <a:solidFill>
            <a:srgbClr val="F5F5F5"/>
          </a:solidFill>
          <a:ln w="12700">
            <a:solidFill>
              <a:srgbClr val="D1D5DB"/>
            </a:solidFill>
            <a:prstDash val="solid"/>
          </a:ln>
        </p:spPr>
      </p:sp>
      <p:sp>
        <p:nvSpPr>
          <p:cNvPr id="17" name="Text 15"/>
          <p:cNvSpPr txBox="1"/>
          <p:nvPr/>
        </p:nvSpPr>
        <p:spPr>
          <a:xfrm>
            <a:off x="411480" y="1883664"/>
            <a:ext cx="3520440" cy="411480"/>
          </a:xfrm>
          <a:prstGeom prst="rect">
            <a:avLst/>
          </a:prstGeom>
          <a:noFill/>
          <a:ln/>
        </p:spPr>
        <p:txBody>
          <a:bodyPr wrap="square" lIns="0" tIns="0" rIns="0" bIns="0" rtlCol="0" anchor="ctr"/>
          <a:lstStyle/>
          <a:p>
            <a:pPr indent="0" marL="0">
              <a:lnSpc>
                <a:spcPts val="1300"/>
              </a:lnSpc>
              <a:buNone/>
            </a:pPr>
            <a:r>
              <a:rPr lang="en-US" sz="1000" dirty="0">
                <a:solidFill>
                  <a:srgbClr val="1F2739"/>
                </a:solidFill>
              </a:rPr>
              <a:t>Adversarial testing (Art. 55)</a:t>
            </a:r>
            <a:endParaRPr lang="en-US" sz="1000" dirty="0"/>
          </a:p>
        </p:txBody>
      </p:sp>
      <p:sp>
        <p:nvSpPr>
          <p:cNvPr id="18" name="Text 16"/>
          <p:cNvSpPr txBox="1"/>
          <p:nvPr/>
        </p:nvSpPr>
        <p:spPr>
          <a:xfrm>
            <a:off x="4114800" y="1883664"/>
            <a:ext cx="3749040" cy="411480"/>
          </a:xfrm>
          <a:prstGeom prst="rect">
            <a:avLst/>
          </a:prstGeom>
          <a:noFill/>
          <a:ln/>
        </p:spPr>
        <p:txBody>
          <a:bodyPr wrap="square" lIns="0" tIns="0" rIns="0" bIns="0" rtlCol="0" anchor="ctr"/>
          <a:lstStyle/>
          <a:p>
            <a:pPr indent="0" marL="0">
              <a:lnSpc>
                <a:spcPts val="1200"/>
              </a:lnSpc>
              <a:buNone/>
            </a:pPr>
            <a:r>
              <a:rPr lang="en-US" sz="950" b="1" dirty="0">
                <a:solidFill>
                  <a:srgbClr val="7C3AED"/>
                </a:solidFill>
                <a:latin typeface="Consolas" pitchFamily="34" charset="0"/>
                <a:ea typeface="Consolas" pitchFamily="34" charset="-122"/>
                <a:cs typeface="Consolas" pitchFamily="34" charset="-120"/>
              </a:rPr>
              <a:t>AML.T0051 Prompt Injection · AML.T0015 Evasion</a:t>
            </a:r>
            <a:endParaRPr lang="en-US" sz="950" dirty="0"/>
          </a:p>
        </p:txBody>
      </p:sp>
      <p:sp>
        <p:nvSpPr>
          <p:cNvPr id="19" name="Text 17"/>
          <p:cNvSpPr txBox="1"/>
          <p:nvPr/>
        </p:nvSpPr>
        <p:spPr>
          <a:xfrm>
            <a:off x="8092440" y="1883664"/>
            <a:ext cx="2926080" cy="411480"/>
          </a:xfrm>
          <a:prstGeom prst="rect">
            <a:avLst/>
          </a:prstGeom>
          <a:noFill/>
          <a:ln/>
        </p:spPr>
        <p:txBody>
          <a:bodyPr wrap="square" lIns="0" tIns="0" rIns="0" bIns="0" rtlCol="0" anchor="ctr"/>
          <a:lstStyle/>
          <a:p>
            <a:pPr indent="0" marL="0">
              <a:lnSpc>
                <a:spcPts val="1200"/>
              </a:lnSpc>
              <a:buNone/>
            </a:pPr>
            <a:r>
              <a:rPr lang="en-US" sz="950" dirty="0">
                <a:solidFill>
                  <a:srgbClr val="D97706"/>
                </a:solidFill>
              </a:rPr>
              <a:t>Stage 2 — Prompt Construction + Stage 4 — Validation</a:t>
            </a:r>
            <a:endParaRPr lang="en-US" sz="950" dirty="0"/>
          </a:p>
        </p:txBody>
      </p:sp>
      <p:sp>
        <p:nvSpPr>
          <p:cNvPr id="20" name="Shape 18"/>
          <p:cNvSpPr/>
          <p:nvPr/>
        </p:nvSpPr>
        <p:spPr>
          <a:xfrm>
            <a:off x="320040" y="2395728"/>
            <a:ext cx="10789920" cy="548640"/>
          </a:xfrm>
          <a:prstGeom prst="rect">
            <a:avLst/>
          </a:prstGeom>
          <a:solidFill>
            <a:srgbClr val="FFFFFF"/>
          </a:solidFill>
          <a:ln w="12700">
            <a:solidFill>
              <a:srgbClr val="D1D5DB"/>
            </a:solidFill>
            <a:prstDash val="solid"/>
          </a:ln>
        </p:spPr>
      </p:sp>
      <p:sp>
        <p:nvSpPr>
          <p:cNvPr id="21" name="Text 19"/>
          <p:cNvSpPr txBox="1"/>
          <p:nvPr/>
        </p:nvSpPr>
        <p:spPr>
          <a:xfrm>
            <a:off x="411480" y="2468880"/>
            <a:ext cx="3520440" cy="411480"/>
          </a:xfrm>
          <a:prstGeom prst="rect">
            <a:avLst/>
          </a:prstGeom>
          <a:noFill/>
          <a:ln/>
        </p:spPr>
        <p:txBody>
          <a:bodyPr wrap="square" lIns="0" tIns="0" rIns="0" bIns="0" rtlCol="0" anchor="ctr"/>
          <a:lstStyle/>
          <a:p>
            <a:pPr indent="0" marL="0">
              <a:lnSpc>
                <a:spcPts val="1300"/>
              </a:lnSpc>
              <a:buNone/>
            </a:pPr>
            <a:r>
              <a:rPr lang="en-US" sz="1000" dirty="0">
                <a:solidFill>
                  <a:srgbClr val="1F2739"/>
                </a:solidFill>
              </a:rPr>
              <a:t>Cybersecurity protections (Art. 55)</a:t>
            </a:r>
            <a:endParaRPr lang="en-US" sz="1000" dirty="0"/>
          </a:p>
        </p:txBody>
      </p:sp>
      <p:sp>
        <p:nvSpPr>
          <p:cNvPr id="22" name="Text 20"/>
          <p:cNvSpPr txBox="1"/>
          <p:nvPr/>
        </p:nvSpPr>
        <p:spPr>
          <a:xfrm>
            <a:off x="4114800" y="2468880"/>
            <a:ext cx="3749040" cy="411480"/>
          </a:xfrm>
          <a:prstGeom prst="rect">
            <a:avLst/>
          </a:prstGeom>
          <a:noFill/>
          <a:ln/>
        </p:spPr>
        <p:txBody>
          <a:bodyPr wrap="square" lIns="0" tIns="0" rIns="0" bIns="0" rtlCol="0" anchor="ctr"/>
          <a:lstStyle/>
          <a:p>
            <a:pPr indent="0" marL="0">
              <a:lnSpc>
                <a:spcPts val="1200"/>
              </a:lnSpc>
              <a:buNone/>
            </a:pPr>
            <a:r>
              <a:rPr lang="en-US" sz="950" b="1" dirty="0">
                <a:solidFill>
                  <a:srgbClr val="7C3AED"/>
                </a:solidFill>
                <a:latin typeface="Consolas" pitchFamily="34" charset="0"/>
                <a:ea typeface="Consolas" pitchFamily="34" charset="-122"/>
                <a:cs typeface="Consolas" pitchFamily="34" charset="-120"/>
              </a:rPr>
              <a:t>AML.T0096 Agent C2 · AML.T0035 Model Extraction</a:t>
            </a:r>
            <a:endParaRPr lang="en-US" sz="950" dirty="0"/>
          </a:p>
        </p:txBody>
      </p:sp>
      <p:sp>
        <p:nvSpPr>
          <p:cNvPr id="23" name="Text 21"/>
          <p:cNvSpPr txBox="1"/>
          <p:nvPr/>
        </p:nvSpPr>
        <p:spPr>
          <a:xfrm>
            <a:off x="8092440" y="2468880"/>
            <a:ext cx="2926080" cy="411480"/>
          </a:xfrm>
          <a:prstGeom prst="rect">
            <a:avLst/>
          </a:prstGeom>
          <a:noFill/>
          <a:ln/>
        </p:spPr>
        <p:txBody>
          <a:bodyPr wrap="square" lIns="0" tIns="0" rIns="0" bIns="0" rtlCol="0" anchor="ctr"/>
          <a:lstStyle/>
          <a:p>
            <a:pPr indent="0" marL="0">
              <a:lnSpc>
                <a:spcPts val="1200"/>
              </a:lnSpc>
              <a:buNone/>
            </a:pPr>
            <a:r>
              <a:rPr lang="en-US" sz="950" dirty="0">
                <a:solidFill>
                  <a:srgbClr val="D97706"/>
                </a:solidFill>
              </a:rPr>
              <a:t>Stage 1 — API Ingestion + Stage 5 — SIEM Alerting</a:t>
            </a:r>
            <a:endParaRPr lang="en-US" sz="950" dirty="0"/>
          </a:p>
        </p:txBody>
      </p:sp>
      <p:sp>
        <p:nvSpPr>
          <p:cNvPr id="24" name="Shape 22"/>
          <p:cNvSpPr/>
          <p:nvPr/>
        </p:nvSpPr>
        <p:spPr>
          <a:xfrm>
            <a:off x="320040" y="2980944"/>
            <a:ext cx="10789920" cy="548640"/>
          </a:xfrm>
          <a:prstGeom prst="rect">
            <a:avLst/>
          </a:prstGeom>
          <a:solidFill>
            <a:srgbClr val="F5F5F5"/>
          </a:solidFill>
          <a:ln w="12700">
            <a:solidFill>
              <a:srgbClr val="D1D5DB"/>
            </a:solidFill>
            <a:prstDash val="solid"/>
          </a:ln>
        </p:spPr>
      </p:sp>
      <p:sp>
        <p:nvSpPr>
          <p:cNvPr id="25" name="Text 23"/>
          <p:cNvSpPr txBox="1"/>
          <p:nvPr/>
        </p:nvSpPr>
        <p:spPr>
          <a:xfrm>
            <a:off x="411480" y="3054096"/>
            <a:ext cx="3520440" cy="411480"/>
          </a:xfrm>
          <a:prstGeom prst="rect">
            <a:avLst/>
          </a:prstGeom>
          <a:noFill/>
          <a:ln/>
        </p:spPr>
        <p:txBody>
          <a:bodyPr wrap="square" lIns="0" tIns="0" rIns="0" bIns="0" rtlCol="0" anchor="ctr"/>
          <a:lstStyle/>
          <a:p>
            <a:pPr indent="0" marL="0">
              <a:lnSpc>
                <a:spcPts val="1300"/>
              </a:lnSpc>
              <a:buNone/>
            </a:pPr>
            <a:r>
              <a:rPr lang="en-US" sz="1000" dirty="0">
                <a:solidFill>
                  <a:srgbClr val="1F2739"/>
                </a:solidFill>
              </a:rPr>
              <a:t>Serious incident reporting (Art. 73)</a:t>
            </a:r>
            <a:endParaRPr lang="en-US" sz="1000" dirty="0"/>
          </a:p>
        </p:txBody>
      </p:sp>
      <p:sp>
        <p:nvSpPr>
          <p:cNvPr id="26" name="Text 24"/>
          <p:cNvSpPr txBox="1"/>
          <p:nvPr/>
        </p:nvSpPr>
        <p:spPr>
          <a:xfrm>
            <a:off x="4114800" y="3054096"/>
            <a:ext cx="3749040" cy="411480"/>
          </a:xfrm>
          <a:prstGeom prst="rect">
            <a:avLst/>
          </a:prstGeom>
          <a:noFill/>
          <a:ln/>
        </p:spPr>
        <p:txBody>
          <a:bodyPr wrap="square" lIns="0" tIns="0" rIns="0" bIns="0" rtlCol="0" anchor="ctr"/>
          <a:lstStyle/>
          <a:p>
            <a:pPr indent="0" marL="0">
              <a:lnSpc>
                <a:spcPts val="1200"/>
              </a:lnSpc>
              <a:buNone/>
            </a:pPr>
            <a:r>
              <a:rPr lang="en-US" sz="950" b="1" dirty="0">
                <a:solidFill>
                  <a:srgbClr val="7C3AED"/>
                </a:solidFill>
                <a:latin typeface="Consolas" pitchFamily="34" charset="0"/>
                <a:ea typeface="Consolas" pitchFamily="34" charset="-122"/>
                <a:cs typeface="Consolas" pitchFamily="34" charset="-120"/>
              </a:rPr>
              <a:t>AML.T0020 Data Poisoning · AML.T0019 Supply Chain</a:t>
            </a:r>
            <a:endParaRPr lang="en-US" sz="950" dirty="0"/>
          </a:p>
        </p:txBody>
      </p:sp>
      <p:sp>
        <p:nvSpPr>
          <p:cNvPr id="27" name="Text 25"/>
          <p:cNvSpPr txBox="1"/>
          <p:nvPr/>
        </p:nvSpPr>
        <p:spPr>
          <a:xfrm>
            <a:off x="8092440" y="3054096"/>
            <a:ext cx="2926080" cy="411480"/>
          </a:xfrm>
          <a:prstGeom prst="rect">
            <a:avLst/>
          </a:prstGeom>
          <a:noFill/>
          <a:ln/>
        </p:spPr>
        <p:txBody>
          <a:bodyPr wrap="square" lIns="0" tIns="0" rIns="0" bIns="0" rtlCol="0" anchor="ctr"/>
          <a:lstStyle/>
          <a:p>
            <a:pPr indent="0" marL="0">
              <a:lnSpc>
                <a:spcPts val="1200"/>
              </a:lnSpc>
              <a:buNone/>
            </a:pPr>
            <a:r>
              <a:rPr lang="en-US" sz="950" dirty="0">
                <a:solidFill>
                  <a:srgbClr val="D97706"/>
                </a:solidFill>
              </a:rPr>
              <a:t>Stage 5 — Audit Logging + Incident Creation</a:t>
            </a:r>
            <a:endParaRPr lang="en-US" sz="950" dirty="0"/>
          </a:p>
        </p:txBody>
      </p:sp>
      <p:sp>
        <p:nvSpPr>
          <p:cNvPr id="28" name="Shape 26"/>
          <p:cNvSpPr/>
          <p:nvPr/>
        </p:nvSpPr>
        <p:spPr>
          <a:xfrm>
            <a:off x="320040" y="3566160"/>
            <a:ext cx="10789920" cy="548640"/>
          </a:xfrm>
          <a:prstGeom prst="rect">
            <a:avLst/>
          </a:prstGeom>
          <a:solidFill>
            <a:srgbClr val="FFFFFF"/>
          </a:solidFill>
          <a:ln w="12700">
            <a:solidFill>
              <a:srgbClr val="D1D5DB"/>
            </a:solidFill>
            <a:prstDash val="solid"/>
          </a:ln>
        </p:spPr>
      </p:sp>
      <p:sp>
        <p:nvSpPr>
          <p:cNvPr id="29" name="Text 27"/>
          <p:cNvSpPr txBox="1"/>
          <p:nvPr/>
        </p:nvSpPr>
        <p:spPr>
          <a:xfrm>
            <a:off x="411480" y="3639312"/>
            <a:ext cx="3520440" cy="411480"/>
          </a:xfrm>
          <a:prstGeom prst="rect">
            <a:avLst/>
          </a:prstGeom>
          <a:noFill/>
          <a:ln/>
        </p:spPr>
        <p:txBody>
          <a:bodyPr wrap="square" lIns="0" tIns="0" rIns="0" bIns="0" rtlCol="0" anchor="ctr"/>
          <a:lstStyle/>
          <a:p>
            <a:pPr indent="0" marL="0">
              <a:lnSpc>
                <a:spcPts val="1300"/>
              </a:lnSpc>
              <a:buNone/>
            </a:pPr>
            <a:r>
              <a:rPr lang="en-US" sz="1000" dirty="0">
                <a:solidFill>
                  <a:srgbClr val="1F2739"/>
                </a:solidFill>
              </a:rPr>
              <a:t>Technical documentation of training (Art. 53)</a:t>
            </a:r>
            <a:endParaRPr lang="en-US" sz="1000" dirty="0"/>
          </a:p>
        </p:txBody>
      </p:sp>
      <p:sp>
        <p:nvSpPr>
          <p:cNvPr id="30" name="Text 28"/>
          <p:cNvSpPr txBox="1"/>
          <p:nvPr/>
        </p:nvSpPr>
        <p:spPr>
          <a:xfrm>
            <a:off x="4114800" y="3639312"/>
            <a:ext cx="3749040" cy="411480"/>
          </a:xfrm>
          <a:prstGeom prst="rect">
            <a:avLst/>
          </a:prstGeom>
          <a:noFill/>
          <a:ln/>
        </p:spPr>
        <p:txBody>
          <a:bodyPr wrap="square" lIns="0" tIns="0" rIns="0" bIns="0" rtlCol="0" anchor="ctr"/>
          <a:lstStyle/>
          <a:p>
            <a:pPr indent="0" marL="0">
              <a:lnSpc>
                <a:spcPts val="1200"/>
              </a:lnSpc>
              <a:buNone/>
            </a:pPr>
            <a:r>
              <a:rPr lang="en-US" sz="950" b="1" dirty="0">
                <a:solidFill>
                  <a:srgbClr val="7C3AED"/>
                </a:solidFill>
                <a:latin typeface="Consolas" pitchFamily="34" charset="0"/>
                <a:ea typeface="Consolas" pitchFamily="34" charset="-122"/>
                <a:cs typeface="Consolas" pitchFamily="34" charset="-120"/>
              </a:rPr>
              <a:t>AML.T0020 — Data provenance chain required</a:t>
            </a:r>
            <a:endParaRPr lang="en-US" sz="950" dirty="0"/>
          </a:p>
        </p:txBody>
      </p:sp>
      <p:sp>
        <p:nvSpPr>
          <p:cNvPr id="31" name="Text 29"/>
          <p:cNvSpPr txBox="1"/>
          <p:nvPr/>
        </p:nvSpPr>
        <p:spPr>
          <a:xfrm>
            <a:off x="8092440" y="3639312"/>
            <a:ext cx="2926080" cy="411480"/>
          </a:xfrm>
          <a:prstGeom prst="rect">
            <a:avLst/>
          </a:prstGeom>
          <a:noFill/>
          <a:ln/>
        </p:spPr>
        <p:txBody>
          <a:bodyPr wrap="square" lIns="0" tIns="0" rIns="0" bIns="0" rtlCol="0" anchor="ctr"/>
          <a:lstStyle/>
          <a:p>
            <a:pPr indent="0" marL="0">
              <a:lnSpc>
                <a:spcPts val="1200"/>
              </a:lnSpc>
              <a:buNone/>
            </a:pPr>
            <a:r>
              <a:rPr lang="en-US" sz="950" dirty="0">
                <a:solidFill>
                  <a:srgbClr val="D97706"/>
                </a:solidFill>
              </a:rPr>
              <a:t>Stage 1 — Training Data Integrity Check</a:t>
            </a:r>
            <a:endParaRPr lang="en-US" sz="950" dirty="0"/>
          </a:p>
        </p:txBody>
      </p:sp>
      <p:sp>
        <p:nvSpPr>
          <p:cNvPr id="32" name="Shape 30"/>
          <p:cNvSpPr/>
          <p:nvPr/>
        </p:nvSpPr>
        <p:spPr>
          <a:xfrm>
            <a:off x="320040" y="4151376"/>
            <a:ext cx="10789920" cy="548640"/>
          </a:xfrm>
          <a:prstGeom prst="rect">
            <a:avLst/>
          </a:prstGeom>
          <a:solidFill>
            <a:srgbClr val="F5F5F5"/>
          </a:solidFill>
          <a:ln w="12700">
            <a:solidFill>
              <a:srgbClr val="D1D5DB"/>
            </a:solidFill>
            <a:prstDash val="solid"/>
          </a:ln>
        </p:spPr>
      </p:sp>
      <p:sp>
        <p:nvSpPr>
          <p:cNvPr id="33" name="Text 31"/>
          <p:cNvSpPr txBox="1"/>
          <p:nvPr/>
        </p:nvSpPr>
        <p:spPr>
          <a:xfrm>
            <a:off x="411480" y="4224528"/>
            <a:ext cx="3520440" cy="411480"/>
          </a:xfrm>
          <a:prstGeom prst="rect">
            <a:avLst/>
          </a:prstGeom>
          <a:noFill/>
          <a:ln/>
        </p:spPr>
        <p:txBody>
          <a:bodyPr wrap="square" lIns="0" tIns="0" rIns="0" bIns="0" rtlCol="0" anchor="ctr"/>
          <a:lstStyle/>
          <a:p>
            <a:pPr indent="0" marL="0">
              <a:lnSpc>
                <a:spcPts val="1300"/>
              </a:lnSpc>
              <a:buNone/>
            </a:pPr>
            <a:r>
              <a:rPr lang="en-US" sz="1000" dirty="0">
                <a:solidFill>
                  <a:srgbClr val="1F2739"/>
                </a:solidFill>
              </a:rPr>
              <a:t>Human oversight for high-risk AI (Art. 14)</a:t>
            </a:r>
            <a:endParaRPr lang="en-US" sz="1000" dirty="0"/>
          </a:p>
        </p:txBody>
      </p:sp>
      <p:sp>
        <p:nvSpPr>
          <p:cNvPr id="34" name="Text 32"/>
          <p:cNvSpPr txBox="1"/>
          <p:nvPr/>
        </p:nvSpPr>
        <p:spPr>
          <a:xfrm>
            <a:off x="4114800" y="4224528"/>
            <a:ext cx="3749040" cy="411480"/>
          </a:xfrm>
          <a:prstGeom prst="rect">
            <a:avLst/>
          </a:prstGeom>
          <a:noFill/>
          <a:ln/>
        </p:spPr>
        <p:txBody>
          <a:bodyPr wrap="square" lIns="0" tIns="0" rIns="0" bIns="0" rtlCol="0" anchor="ctr"/>
          <a:lstStyle/>
          <a:p>
            <a:pPr indent="0" marL="0">
              <a:lnSpc>
                <a:spcPts val="1200"/>
              </a:lnSpc>
              <a:buNone/>
            </a:pPr>
            <a:r>
              <a:rPr lang="en-US" sz="950" b="1" dirty="0">
                <a:solidFill>
                  <a:srgbClr val="7C3AED"/>
                </a:solidFill>
                <a:latin typeface="Consolas" pitchFamily="34" charset="0"/>
                <a:ea typeface="Consolas" pitchFamily="34" charset="-122"/>
                <a:cs typeface="Consolas" pitchFamily="34" charset="-120"/>
              </a:rPr>
              <a:t>AML.T0054 Modify Agent Config · AML.T0096 C2</a:t>
            </a:r>
            <a:endParaRPr lang="en-US" sz="950" dirty="0"/>
          </a:p>
        </p:txBody>
      </p:sp>
      <p:sp>
        <p:nvSpPr>
          <p:cNvPr id="35" name="Text 33"/>
          <p:cNvSpPr txBox="1"/>
          <p:nvPr/>
        </p:nvSpPr>
        <p:spPr>
          <a:xfrm>
            <a:off x="8092440" y="4224528"/>
            <a:ext cx="2926080" cy="411480"/>
          </a:xfrm>
          <a:prstGeom prst="rect">
            <a:avLst/>
          </a:prstGeom>
          <a:noFill/>
          <a:ln/>
        </p:spPr>
        <p:txBody>
          <a:bodyPr wrap="square" lIns="0" tIns="0" rIns="0" bIns="0" rtlCol="0" anchor="ctr"/>
          <a:lstStyle/>
          <a:p>
            <a:pPr indent="0" marL="0">
              <a:lnSpc>
                <a:spcPts val="1200"/>
              </a:lnSpc>
              <a:buNone/>
            </a:pPr>
            <a:r>
              <a:rPr lang="en-US" sz="950" dirty="0">
                <a:solidFill>
                  <a:srgbClr val="D97706"/>
                </a:solidFill>
              </a:rPr>
              <a:t>Stage 3 — Inference Monitoring + Tool Controls</a:t>
            </a:r>
            <a:endParaRPr lang="en-US" sz="950" dirty="0"/>
          </a:p>
        </p:txBody>
      </p:sp>
      <p:sp>
        <p:nvSpPr>
          <p:cNvPr id="36" name="Shape 34"/>
          <p:cNvSpPr/>
          <p:nvPr/>
        </p:nvSpPr>
        <p:spPr>
          <a:xfrm>
            <a:off x="320040" y="4736592"/>
            <a:ext cx="10789920" cy="548640"/>
          </a:xfrm>
          <a:prstGeom prst="rect">
            <a:avLst/>
          </a:prstGeom>
          <a:solidFill>
            <a:srgbClr val="FFFFFF"/>
          </a:solidFill>
          <a:ln w="12700">
            <a:solidFill>
              <a:srgbClr val="D1D5DB"/>
            </a:solidFill>
            <a:prstDash val="solid"/>
          </a:ln>
        </p:spPr>
      </p:sp>
      <p:sp>
        <p:nvSpPr>
          <p:cNvPr id="37" name="Text 35"/>
          <p:cNvSpPr txBox="1"/>
          <p:nvPr/>
        </p:nvSpPr>
        <p:spPr>
          <a:xfrm>
            <a:off x="411480" y="4809744"/>
            <a:ext cx="3520440" cy="411480"/>
          </a:xfrm>
          <a:prstGeom prst="rect">
            <a:avLst/>
          </a:prstGeom>
          <a:noFill/>
          <a:ln/>
        </p:spPr>
        <p:txBody>
          <a:bodyPr wrap="square" lIns="0" tIns="0" rIns="0" bIns="0" rtlCol="0" anchor="ctr"/>
          <a:lstStyle/>
          <a:p>
            <a:pPr indent="0" marL="0">
              <a:lnSpc>
                <a:spcPts val="1300"/>
              </a:lnSpc>
              <a:buNone/>
            </a:pPr>
            <a:r>
              <a:rPr lang="en-US" sz="1000" dirty="0">
                <a:solidFill>
                  <a:srgbClr val="1F2739"/>
                </a:solidFill>
              </a:rPr>
              <a:t>Art. 50 Transparency: disclose AI interaction</a:t>
            </a:r>
            <a:endParaRPr lang="en-US" sz="1000" dirty="0"/>
          </a:p>
        </p:txBody>
      </p:sp>
      <p:sp>
        <p:nvSpPr>
          <p:cNvPr id="38" name="Text 36"/>
          <p:cNvSpPr txBox="1"/>
          <p:nvPr/>
        </p:nvSpPr>
        <p:spPr>
          <a:xfrm>
            <a:off x="4114800" y="4809744"/>
            <a:ext cx="3749040" cy="411480"/>
          </a:xfrm>
          <a:prstGeom prst="rect">
            <a:avLst/>
          </a:prstGeom>
          <a:noFill/>
          <a:ln/>
        </p:spPr>
        <p:txBody>
          <a:bodyPr wrap="square" lIns="0" tIns="0" rIns="0" bIns="0" rtlCol="0" anchor="ctr"/>
          <a:lstStyle/>
          <a:p>
            <a:pPr indent="0" marL="0">
              <a:lnSpc>
                <a:spcPts val="1200"/>
              </a:lnSpc>
              <a:buNone/>
            </a:pPr>
            <a:r>
              <a:rPr lang="en-US" sz="950" b="1" dirty="0">
                <a:solidFill>
                  <a:srgbClr val="7C3AED"/>
                </a:solidFill>
                <a:latin typeface="Consolas" pitchFamily="34" charset="0"/>
                <a:ea typeface="Consolas" pitchFamily="34" charset="-122"/>
                <a:cs typeface="Consolas" pitchFamily="34" charset="-120"/>
              </a:rPr>
              <a:t>AML.T0057 System Prompt Extraction (defence)</a:t>
            </a:r>
            <a:endParaRPr lang="en-US" sz="950" dirty="0"/>
          </a:p>
        </p:txBody>
      </p:sp>
      <p:sp>
        <p:nvSpPr>
          <p:cNvPr id="39" name="Text 37"/>
          <p:cNvSpPr txBox="1"/>
          <p:nvPr/>
        </p:nvSpPr>
        <p:spPr>
          <a:xfrm>
            <a:off x="8092440" y="4809744"/>
            <a:ext cx="2926080" cy="411480"/>
          </a:xfrm>
          <a:prstGeom prst="rect">
            <a:avLst/>
          </a:prstGeom>
          <a:noFill/>
          <a:ln/>
        </p:spPr>
        <p:txBody>
          <a:bodyPr wrap="square" lIns="0" tIns="0" rIns="0" bIns="0" rtlCol="0" anchor="ctr"/>
          <a:lstStyle/>
          <a:p>
            <a:pPr indent="0" marL="0">
              <a:lnSpc>
                <a:spcPts val="1200"/>
              </a:lnSpc>
              <a:buNone/>
            </a:pPr>
            <a:r>
              <a:rPr lang="en-US" sz="950" dirty="0">
                <a:solidFill>
                  <a:srgbClr val="D97706"/>
                </a:solidFill>
              </a:rPr>
              <a:t>Stage 4 — Output Validation + Disclosure Check</a:t>
            </a:r>
            <a:endParaRPr lang="en-US" sz="950" dirty="0"/>
          </a:p>
        </p:txBody>
      </p:sp>
      <p:sp>
        <p:nvSpPr>
          <p:cNvPr id="40" name="Shape 38"/>
          <p:cNvSpPr/>
          <p:nvPr/>
        </p:nvSpPr>
        <p:spPr>
          <a:xfrm>
            <a:off x="320040" y="5321808"/>
            <a:ext cx="10789920" cy="548640"/>
          </a:xfrm>
          <a:prstGeom prst="rect">
            <a:avLst/>
          </a:prstGeom>
          <a:solidFill>
            <a:srgbClr val="F5F5F5"/>
          </a:solidFill>
          <a:ln w="12700">
            <a:solidFill>
              <a:srgbClr val="D1D5DB"/>
            </a:solidFill>
            <a:prstDash val="solid"/>
          </a:ln>
        </p:spPr>
      </p:sp>
      <p:sp>
        <p:nvSpPr>
          <p:cNvPr id="41" name="Text 39"/>
          <p:cNvSpPr txBox="1"/>
          <p:nvPr/>
        </p:nvSpPr>
        <p:spPr>
          <a:xfrm>
            <a:off x="411480" y="5394960"/>
            <a:ext cx="3520440" cy="411480"/>
          </a:xfrm>
          <a:prstGeom prst="rect">
            <a:avLst/>
          </a:prstGeom>
          <a:noFill/>
          <a:ln/>
        </p:spPr>
        <p:txBody>
          <a:bodyPr wrap="square" lIns="0" tIns="0" rIns="0" bIns="0" rtlCol="0" anchor="ctr"/>
          <a:lstStyle/>
          <a:p>
            <a:pPr indent="0" marL="0">
              <a:lnSpc>
                <a:spcPts val="1300"/>
              </a:lnSpc>
              <a:buNone/>
            </a:pPr>
            <a:r>
              <a:rPr lang="en-US" sz="1000" dirty="0">
                <a:solidFill>
                  <a:srgbClr val="1F2739"/>
                </a:solidFill>
              </a:rPr>
              <a:t>Risk management system (Art. 9)</a:t>
            </a:r>
            <a:endParaRPr lang="en-US" sz="1000" dirty="0"/>
          </a:p>
        </p:txBody>
      </p:sp>
      <p:sp>
        <p:nvSpPr>
          <p:cNvPr id="42" name="Text 40"/>
          <p:cNvSpPr txBox="1"/>
          <p:nvPr/>
        </p:nvSpPr>
        <p:spPr>
          <a:xfrm>
            <a:off x="4114800" y="5394960"/>
            <a:ext cx="3749040" cy="411480"/>
          </a:xfrm>
          <a:prstGeom prst="rect">
            <a:avLst/>
          </a:prstGeom>
          <a:noFill/>
          <a:ln/>
        </p:spPr>
        <p:txBody>
          <a:bodyPr wrap="square" lIns="0" tIns="0" rIns="0" bIns="0" rtlCol="0" anchor="ctr"/>
          <a:lstStyle/>
          <a:p>
            <a:pPr indent="0" marL="0">
              <a:lnSpc>
                <a:spcPts val="1200"/>
              </a:lnSpc>
              <a:buNone/>
            </a:pPr>
            <a:r>
              <a:rPr lang="en-US" sz="950" b="1" dirty="0">
                <a:solidFill>
                  <a:srgbClr val="7C3AED"/>
                </a:solidFill>
                <a:latin typeface="Consolas" pitchFamily="34" charset="0"/>
                <a:ea typeface="Consolas" pitchFamily="34" charset="-122"/>
                <a:cs typeface="Consolas" pitchFamily="34" charset="-120"/>
              </a:rPr>
              <a:t>Full ATLAS TTP mapping across 16 tactics</a:t>
            </a:r>
            <a:endParaRPr lang="en-US" sz="950" dirty="0"/>
          </a:p>
        </p:txBody>
      </p:sp>
      <p:sp>
        <p:nvSpPr>
          <p:cNvPr id="43" name="Text 41"/>
          <p:cNvSpPr txBox="1"/>
          <p:nvPr/>
        </p:nvSpPr>
        <p:spPr>
          <a:xfrm>
            <a:off x="8092440" y="5394960"/>
            <a:ext cx="2926080" cy="411480"/>
          </a:xfrm>
          <a:prstGeom prst="rect">
            <a:avLst/>
          </a:prstGeom>
          <a:noFill/>
          <a:ln/>
        </p:spPr>
        <p:txBody>
          <a:bodyPr wrap="square" lIns="0" tIns="0" rIns="0" bIns="0" rtlCol="0" anchor="ctr"/>
          <a:lstStyle/>
          <a:p>
            <a:pPr indent="0" marL="0">
              <a:lnSpc>
                <a:spcPts val="1200"/>
              </a:lnSpc>
              <a:buNone/>
            </a:pPr>
            <a:r>
              <a:rPr lang="en-US" sz="950" dirty="0">
                <a:solidFill>
                  <a:srgbClr val="D97706"/>
                </a:solidFill>
              </a:rPr>
              <a:t>Sentinel Pipeline — all 5 stages combined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E95332"/>
          </a:solidFill>
          <a:ln w="12700">
            <a:solidFill>
              <a:srgbClr val="E95332"/>
            </a:solidFill>
            <a:prstDash val="solid"/>
          </a:ln>
        </p:spPr>
      </p:sp>
      <p:sp>
        <p:nvSpPr>
          <p:cNvPr id="3" name="Shape 1"/>
          <p:cNvSpPr/>
          <p:nvPr/>
        </p:nvSpPr>
        <p:spPr>
          <a:xfrm>
            <a:off x="11430000" y="0"/>
            <a:ext cx="758952" cy="6858000"/>
          </a:xfrm>
          <a:prstGeom prst="rect">
            <a:avLst/>
          </a:prstGeom>
          <a:solidFill>
            <a:srgbClr val="1F2739"/>
          </a:solidFill>
          <a:ln w="12700">
            <a:solidFill>
              <a:srgbClr val="1F2739"/>
            </a:solidFill>
            <a:prstDash val="solid"/>
          </a:ln>
        </p:spPr>
      </p:sp>
      <p:sp>
        <p:nvSpPr>
          <p:cNvPr id="4" name="Text 2"/>
          <p:cNvSpPr txBox="1"/>
          <p:nvPr/>
        </p:nvSpPr>
        <p:spPr>
          <a:xfrm>
            <a:off x="11448288" y="137160"/>
            <a:ext cx="731520" cy="1463040"/>
          </a:xfrm>
          <a:prstGeom prst="rect">
            <a:avLst/>
          </a:prstGeom>
          <a:noFill/>
          <a:ln/>
        </p:spPr>
        <p:txBody>
          <a:bodyPr wrap="square" lIns="0" tIns="0" rIns="0" bIns="0" rtlCol="0" anchor="ctr"/>
          <a:lstStyle/>
          <a:p>
            <a:pPr algn="ctr" indent="0" marL="0">
              <a:buNone/>
            </a:pPr>
            <a:r>
              <a:rPr lang="en-US" sz="800" b="1" dirty="0">
                <a:solidFill>
                  <a:srgbClr val="E95332"/>
                </a:solidFill>
              </a:rPr>
              <a:t>STA
</a:t>
            </a:r>
            <a:pPr algn="ctr" indent="0" marL="0">
              <a:buNone/>
            </a:pPr>
            <a:r>
              <a:rPr lang="en-US" sz="800" b="1" dirty="0">
                <a:solidFill>
                  <a:srgbClr val="E95332"/>
                </a:solidFill>
              </a:rPr>
              <a:t>CK
</a:t>
            </a:r>
            <a:pPr algn="ctr" indent="0" marL="0">
              <a:buNone/>
            </a:pPr>
            <a:r>
              <a:rPr lang="en-US" sz="600" b="1" dirty="0">
                <a:solidFill>
                  <a:srgbClr val="E95332"/>
                </a:solidFill>
              </a:rPr>
              <a:t>ROUTE
</a:t>
            </a:r>
            <a:pPr algn="ctr" indent="0" marL="0">
              <a:buNone/>
            </a:pPr>
            <a:r>
              <a:rPr lang="en-US" sz="500" dirty="0">
                <a:solidFill>
                  <a:srgbClr val="FFFFFF"/>
                </a:solidFill>
              </a:rPr>
              <a:t>AN
</a:t>
            </a:r>
            <a:pPr algn="ctr" indent="0" marL="0">
              <a:buNone/>
            </a:pPr>
            <a:r>
              <a:rPr lang="en-US" sz="700" b="1" dirty="0">
                <a:solidFill>
                  <a:srgbClr val="FFFFFF"/>
                </a:solidFill>
              </a:rPr>
              <a:t>NIIT
</a:t>
            </a:r>
            <a:pPr algn="ctr" indent="0" marL="0">
              <a:buNone/>
            </a:pPr>
            <a:r>
              <a:rPr lang="en-US" sz="400" dirty="0">
                <a:solidFill>
                  <a:srgbClr val="FFFFFF"/>
                </a:solidFill>
              </a:rPr>
              <a:t>VENTURE</a:t>
            </a:r>
            <a:endParaRPr lang="en-US" sz="800" dirty="0"/>
          </a:p>
        </p:txBody>
      </p:sp>
      <p:sp>
        <p:nvSpPr>
          <p:cNvPr id="5" name="Text 3"/>
          <p:cNvSpPr txBox="1"/>
          <p:nvPr/>
        </p:nvSpPr>
        <p:spPr>
          <a:xfrm>
            <a:off x="274320" y="6309360"/>
            <a:ext cx="10881360" cy="228600"/>
          </a:xfrm>
          <a:prstGeom prst="rect">
            <a:avLst/>
          </a:prstGeom>
          <a:noFill/>
          <a:ln/>
        </p:spPr>
        <p:txBody>
          <a:bodyPr wrap="square" rtlCol="0" anchor="ctr"/>
          <a:lstStyle/>
          <a:p>
            <a:pPr indent="0" marL="0">
              <a:buNone/>
            </a:pPr>
            <a:r>
              <a:rPr lang="en-US" sz="600" dirty="0">
                <a:solidFill>
                  <a:srgbClr val="8B949E"/>
                </a:solidFill>
              </a:rPr>
              <a:t>Confidential – Intellectual Property of NIIT Ltd. | © NIIT-StackRoute 2025-2026</a:t>
            </a:r>
            <a:endParaRPr lang="en-US" sz="600" dirty="0"/>
          </a:p>
        </p:txBody>
      </p:sp>
      <p:sp>
        <p:nvSpPr>
          <p:cNvPr id="6" name="Text 4"/>
          <p:cNvSpPr txBox="1"/>
          <p:nvPr/>
        </p:nvSpPr>
        <p:spPr>
          <a:xfrm>
            <a:off x="320040" y="164592"/>
            <a:ext cx="10789920" cy="502920"/>
          </a:xfrm>
          <a:prstGeom prst="rect">
            <a:avLst/>
          </a:prstGeom>
          <a:noFill/>
          <a:ln/>
        </p:spPr>
        <p:txBody>
          <a:bodyPr wrap="square" rtlCol="0" anchor="ctr"/>
          <a:lstStyle/>
          <a:p>
            <a:pPr indent="0" marL="0">
              <a:buNone/>
            </a:pPr>
            <a:r>
              <a:rPr lang="en-US" sz="2400" b="1" dirty="0">
                <a:solidFill>
                  <a:srgbClr val="E95332"/>
                </a:solidFill>
                <a:latin typeface="Candara" pitchFamily="34" charset="0"/>
                <a:ea typeface="Candara" pitchFamily="34" charset="-122"/>
                <a:cs typeface="Candara" pitchFamily="34" charset="-120"/>
              </a:rPr>
              <a:t>Interesting Facts — EU AI Act &amp; AI Security</a:t>
            </a:r>
            <a:endParaRPr lang="en-US" sz="2400" dirty="0"/>
          </a:p>
        </p:txBody>
      </p:sp>
      <p:sp>
        <p:nvSpPr>
          <p:cNvPr id="7" name="Shape 5"/>
          <p:cNvSpPr/>
          <p:nvPr/>
        </p:nvSpPr>
        <p:spPr>
          <a:xfrm>
            <a:off x="320040" y="694944"/>
            <a:ext cx="10789920" cy="18288"/>
          </a:xfrm>
          <a:prstGeom prst="rect">
            <a:avLst/>
          </a:prstGeom>
          <a:solidFill>
            <a:srgbClr val="E95332"/>
          </a:solidFill>
          <a:ln w="12700">
            <a:solidFill>
              <a:srgbClr val="E95332"/>
            </a:solidFill>
            <a:prstDash val="solid"/>
          </a:ln>
        </p:spPr>
      </p:sp>
      <p:sp>
        <p:nvSpPr>
          <p:cNvPr id="8" name="Shape 6"/>
          <p:cNvSpPr/>
          <p:nvPr/>
        </p:nvSpPr>
        <p:spPr>
          <a:xfrm>
            <a:off x="320040" y="960120"/>
            <a:ext cx="3383280" cy="2377440"/>
          </a:xfrm>
          <a:prstGeom prst="roundRect">
            <a:avLst>
              <a:gd name="adj" fmla="val 3846"/>
            </a:avLst>
          </a:prstGeom>
          <a:solidFill>
            <a:srgbClr val="F5F5F5"/>
          </a:solidFill>
          <a:ln w="12700">
            <a:solidFill>
              <a:srgbClr val="D1D5DB"/>
            </a:solidFill>
            <a:prstDash val="solid"/>
          </a:ln>
        </p:spPr>
      </p:sp>
      <p:sp>
        <p:nvSpPr>
          <p:cNvPr id="9" name="Text 7"/>
          <p:cNvSpPr txBox="1"/>
          <p:nvPr/>
        </p:nvSpPr>
        <p:spPr>
          <a:xfrm>
            <a:off x="320040" y="1097280"/>
            <a:ext cx="33832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0" name="Text 8"/>
          <p:cNvSpPr txBox="1"/>
          <p:nvPr/>
        </p:nvSpPr>
        <p:spPr>
          <a:xfrm>
            <a:off x="429768" y="1618488"/>
            <a:ext cx="3163824" cy="347472"/>
          </a:xfrm>
          <a:prstGeom prst="rect">
            <a:avLst/>
          </a:prstGeom>
          <a:noFill/>
          <a:ln/>
        </p:spPr>
        <p:txBody>
          <a:bodyPr wrap="square" lIns="0" tIns="0" rIns="0" bIns="0" rtlCol="0" anchor="ctr"/>
          <a:lstStyle/>
          <a:p>
            <a:pPr algn="ctr" indent="0" marL="0">
              <a:buNone/>
            </a:pPr>
            <a:r>
              <a:rPr lang="en-US" sz="1150" b="1" dirty="0">
                <a:solidFill>
                  <a:srgbClr val="1F2739"/>
                </a:solidFill>
              </a:rPr>
              <a:t>The Brussels Effect</a:t>
            </a:r>
            <a:endParaRPr lang="en-US" sz="1150" dirty="0"/>
          </a:p>
        </p:txBody>
      </p:sp>
      <p:sp>
        <p:nvSpPr>
          <p:cNvPr id="11" name="Text 9"/>
          <p:cNvSpPr txBox="1"/>
          <p:nvPr/>
        </p:nvSpPr>
        <p:spPr>
          <a:xfrm>
            <a:off x="429768" y="2002536"/>
            <a:ext cx="3163824" cy="123444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GDPR became global law without a vote. EU AI Act is doing the same — companies outside the EU are voluntarily self-regulating to EU AI Act standards to maintain market access.</a:t>
            </a:r>
            <a:endParaRPr lang="en-US" sz="1000" dirty="0"/>
          </a:p>
        </p:txBody>
      </p:sp>
      <p:sp>
        <p:nvSpPr>
          <p:cNvPr id="12" name="Shape 10"/>
          <p:cNvSpPr/>
          <p:nvPr/>
        </p:nvSpPr>
        <p:spPr>
          <a:xfrm>
            <a:off x="3913632" y="960120"/>
            <a:ext cx="3383280" cy="2377440"/>
          </a:xfrm>
          <a:prstGeom prst="roundRect">
            <a:avLst>
              <a:gd name="adj" fmla="val 3846"/>
            </a:avLst>
          </a:prstGeom>
          <a:solidFill>
            <a:srgbClr val="F5F5F5"/>
          </a:solidFill>
          <a:ln w="12700">
            <a:solidFill>
              <a:srgbClr val="D1D5DB"/>
            </a:solidFill>
            <a:prstDash val="solid"/>
          </a:ln>
        </p:spPr>
      </p:sp>
      <p:sp>
        <p:nvSpPr>
          <p:cNvPr id="13" name="Text 11"/>
          <p:cNvSpPr txBox="1"/>
          <p:nvPr/>
        </p:nvSpPr>
        <p:spPr>
          <a:xfrm>
            <a:off x="3913632" y="1097280"/>
            <a:ext cx="33832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4" name="Text 12"/>
          <p:cNvSpPr txBox="1"/>
          <p:nvPr/>
        </p:nvSpPr>
        <p:spPr>
          <a:xfrm>
            <a:off x="4023360" y="1618488"/>
            <a:ext cx="3163824" cy="347472"/>
          </a:xfrm>
          <a:prstGeom prst="rect">
            <a:avLst/>
          </a:prstGeom>
          <a:noFill/>
          <a:ln/>
        </p:spPr>
        <p:txBody>
          <a:bodyPr wrap="square" lIns="0" tIns="0" rIns="0" bIns="0" rtlCol="0" anchor="ctr"/>
          <a:lstStyle/>
          <a:p>
            <a:pPr algn="ctr" indent="0" marL="0">
              <a:buNone/>
            </a:pPr>
            <a:r>
              <a:rPr lang="en-US" sz="1150" b="1" dirty="0">
                <a:solidFill>
                  <a:srgbClr val="1F2739"/>
                </a:solidFill>
              </a:rPr>
              <a:t>Steepest AI Fines Ever</a:t>
            </a:r>
            <a:endParaRPr lang="en-US" sz="1150" dirty="0"/>
          </a:p>
        </p:txBody>
      </p:sp>
      <p:sp>
        <p:nvSpPr>
          <p:cNvPr id="15" name="Text 13"/>
          <p:cNvSpPr txBox="1"/>
          <p:nvPr/>
        </p:nvSpPr>
        <p:spPr>
          <a:xfrm>
            <a:off x="4023360" y="2002536"/>
            <a:ext cx="3163824" cy="123444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€35M or 7% of global annual revenue for Art. 5 violations — higher than GDPR's 4%. For a company with $30B revenue, one violation = $2.1B potential fine.</a:t>
            </a:r>
            <a:endParaRPr lang="en-US" sz="1000" dirty="0"/>
          </a:p>
        </p:txBody>
      </p:sp>
      <p:sp>
        <p:nvSpPr>
          <p:cNvPr id="16" name="Shape 14"/>
          <p:cNvSpPr/>
          <p:nvPr/>
        </p:nvSpPr>
        <p:spPr>
          <a:xfrm>
            <a:off x="7507224" y="960120"/>
            <a:ext cx="3383280" cy="2377440"/>
          </a:xfrm>
          <a:prstGeom prst="roundRect">
            <a:avLst>
              <a:gd name="adj" fmla="val 3846"/>
            </a:avLst>
          </a:prstGeom>
          <a:solidFill>
            <a:srgbClr val="F5F5F5"/>
          </a:solidFill>
          <a:ln w="12700">
            <a:solidFill>
              <a:srgbClr val="D1D5DB"/>
            </a:solidFill>
            <a:prstDash val="solid"/>
          </a:ln>
        </p:spPr>
      </p:sp>
      <p:sp>
        <p:nvSpPr>
          <p:cNvPr id="17" name="Text 15"/>
          <p:cNvSpPr txBox="1"/>
          <p:nvPr/>
        </p:nvSpPr>
        <p:spPr>
          <a:xfrm>
            <a:off x="7507224" y="1097280"/>
            <a:ext cx="33832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Text 16"/>
          <p:cNvSpPr txBox="1"/>
          <p:nvPr/>
        </p:nvSpPr>
        <p:spPr>
          <a:xfrm>
            <a:off x="7616952" y="1618488"/>
            <a:ext cx="3163824" cy="347472"/>
          </a:xfrm>
          <a:prstGeom prst="rect">
            <a:avLst/>
          </a:prstGeom>
          <a:noFill/>
          <a:ln/>
        </p:spPr>
        <p:txBody>
          <a:bodyPr wrap="square" lIns="0" tIns="0" rIns="0" bIns="0" rtlCol="0" anchor="ctr"/>
          <a:lstStyle/>
          <a:p>
            <a:pPr algn="ctr" indent="0" marL="0">
              <a:buNone/>
            </a:pPr>
            <a:r>
              <a:rPr lang="en-US" sz="1150" b="1" dirty="0">
                <a:solidFill>
                  <a:srgbClr val="1F2739"/>
                </a:solidFill>
              </a:rPr>
              <a:t>GPT-4 Is Systemic Risk</a:t>
            </a:r>
            <a:endParaRPr lang="en-US" sz="1150" dirty="0"/>
          </a:p>
        </p:txBody>
      </p:sp>
      <p:sp>
        <p:nvSpPr>
          <p:cNvPr id="19" name="Text 17"/>
          <p:cNvSpPr txBox="1"/>
          <p:nvPr/>
        </p:nvSpPr>
        <p:spPr>
          <a:xfrm>
            <a:off x="7616952" y="2002536"/>
            <a:ext cx="3163824" cy="123444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Models trained with ≥10²⁵ FLOPs must red-team and report incidents. OpenAI's GPT-4 almost certainly qualifies — mandatory adversarial testing under ATLAS methodology.</a:t>
            </a:r>
            <a:endParaRPr lang="en-US" sz="1000" dirty="0"/>
          </a:p>
        </p:txBody>
      </p:sp>
      <p:sp>
        <p:nvSpPr>
          <p:cNvPr id="20" name="Shape 18"/>
          <p:cNvSpPr/>
          <p:nvPr/>
        </p:nvSpPr>
        <p:spPr>
          <a:xfrm>
            <a:off x="320040" y="3447288"/>
            <a:ext cx="3383280" cy="2377440"/>
          </a:xfrm>
          <a:prstGeom prst="roundRect">
            <a:avLst>
              <a:gd name="adj" fmla="val 3846"/>
            </a:avLst>
          </a:prstGeom>
          <a:solidFill>
            <a:srgbClr val="F5F5F5"/>
          </a:solidFill>
          <a:ln w="12700">
            <a:solidFill>
              <a:srgbClr val="D1D5DB"/>
            </a:solidFill>
            <a:prstDash val="solid"/>
          </a:ln>
        </p:spPr>
      </p:sp>
      <p:sp>
        <p:nvSpPr>
          <p:cNvPr id="21" name="Text 19"/>
          <p:cNvSpPr txBox="1"/>
          <p:nvPr/>
        </p:nvSpPr>
        <p:spPr>
          <a:xfrm>
            <a:off x="320040" y="3584448"/>
            <a:ext cx="33832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2" name="Text 20"/>
          <p:cNvSpPr txBox="1"/>
          <p:nvPr/>
        </p:nvSpPr>
        <p:spPr>
          <a:xfrm>
            <a:off x="429768" y="4105656"/>
            <a:ext cx="3163824" cy="347472"/>
          </a:xfrm>
          <a:prstGeom prst="rect">
            <a:avLst/>
          </a:prstGeom>
          <a:noFill/>
          <a:ln/>
        </p:spPr>
        <p:txBody>
          <a:bodyPr wrap="square" lIns="0" tIns="0" rIns="0" bIns="0" rtlCol="0" anchor="ctr"/>
          <a:lstStyle/>
          <a:p>
            <a:pPr algn="ctr" indent="0" marL="0">
              <a:buNone/>
            </a:pPr>
            <a:r>
              <a:rPr lang="en-US" sz="1150" b="1" dirty="0">
                <a:solidFill>
                  <a:srgbClr val="1F2739"/>
                </a:solidFill>
              </a:rPr>
              <a:t>ATLAS = Mandatory</a:t>
            </a:r>
            <a:endParaRPr lang="en-US" sz="1150" dirty="0"/>
          </a:p>
        </p:txBody>
      </p:sp>
      <p:sp>
        <p:nvSpPr>
          <p:cNvPr id="23" name="Text 21"/>
          <p:cNvSpPr txBox="1"/>
          <p:nvPr/>
        </p:nvSpPr>
        <p:spPr>
          <a:xfrm>
            <a:off x="429768" y="4489704"/>
            <a:ext cx="3163824" cy="123444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EU AI Act Art. 55 requires adversarial testing for systemic-risk GPAI. MITRE ATLAS is the most comprehensive TTP taxonomy for AI red-teaming — effectively required by law.</a:t>
            </a:r>
            <a:endParaRPr lang="en-US" sz="1000" dirty="0"/>
          </a:p>
        </p:txBody>
      </p:sp>
      <p:sp>
        <p:nvSpPr>
          <p:cNvPr id="24" name="Shape 22"/>
          <p:cNvSpPr/>
          <p:nvPr/>
        </p:nvSpPr>
        <p:spPr>
          <a:xfrm>
            <a:off x="3913632" y="3447288"/>
            <a:ext cx="3383280" cy="2377440"/>
          </a:xfrm>
          <a:prstGeom prst="roundRect">
            <a:avLst>
              <a:gd name="adj" fmla="val 3846"/>
            </a:avLst>
          </a:prstGeom>
          <a:solidFill>
            <a:srgbClr val="F5F5F5"/>
          </a:solidFill>
          <a:ln w="12700">
            <a:solidFill>
              <a:srgbClr val="D1D5DB"/>
            </a:solidFill>
            <a:prstDash val="solid"/>
          </a:ln>
        </p:spPr>
      </p:sp>
      <p:sp>
        <p:nvSpPr>
          <p:cNvPr id="25" name="Text 23"/>
          <p:cNvSpPr txBox="1"/>
          <p:nvPr/>
        </p:nvSpPr>
        <p:spPr>
          <a:xfrm>
            <a:off x="3913632" y="3584448"/>
            <a:ext cx="33832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6" name="Text 24"/>
          <p:cNvSpPr txBox="1"/>
          <p:nvPr/>
        </p:nvSpPr>
        <p:spPr>
          <a:xfrm>
            <a:off x="4023360" y="4105656"/>
            <a:ext cx="3163824" cy="347472"/>
          </a:xfrm>
          <a:prstGeom prst="rect">
            <a:avLst/>
          </a:prstGeom>
          <a:noFill/>
          <a:ln/>
        </p:spPr>
        <p:txBody>
          <a:bodyPr wrap="square" lIns="0" tIns="0" rIns="0" bIns="0" rtlCol="0" anchor="ctr"/>
          <a:lstStyle/>
          <a:p>
            <a:pPr algn="ctr" indent="0" marL="0">
              <a:buNone/>
            </a:pPr>
            <a:r>
              <a:rPr lang="en-US" sz="1150" b="1" dirty="0">
                <a:solidFill>
                  <a:srgbClr val="1F2739"/>
                </a:solidFill>
              </a:rPr>
              <a:t>Open Source Gets a Pass</a:t>
            </a:r>
            <a:endParaRPr lang="en-US" sz="1150" dirty="0"/>
          </a:p>
        </p:txBody>
      </p:sp>
      <p:sp>
        <p:nvSpPr>
          <p:cNvPr id="27" name="Text 25"/>
          <p:cNvSpPr txBox="1"/>
          <p:nvPr/>
        </p:nvSpPr>
        <p:spPr>
          <a:xfrm>
            <a:off x="4023360" y="4489704"/>
            <a:ext cx="3163824" cy="123444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Llama, Mistral, Falcon: exempt from most obligations unless they exceed 10²⁵ FLOPs. Meta's strategic choice to open-source was partly an EU AI Act compliance strategy.</a:t>
            </a:r>
            <a:endParaRPr lang="en-US" sz="1000" dirty="0"/>
          </a:p>
        </p:txBody>
      </p:sp>
      <p:sp>
        <p:nvSpPr>
          <p:cNvPr id="28" name="Shape 26"/>
          <p:cNvSpPr/>
          <p:nvPr/>
        </p:nvSpPr>
        <p:spPr>
          <a:xfrm>
            <a:off x="7507224" y="3447288"/>
            <a:ext cx="3383280" cy="2377440"/>
          </a:xfrm>
          <a:prstGeom prst="roundRect">
            <a:avLst>
              <a:gd name="adj" fmla="val 3846"/>
            </a:avLst>
          </a:prstGeom>
          <a:solidFill>
            <a:srgbClr val="F5F5F5"/>
          </a:solidFill>
          <a:ln w="12700">
            <a:solidFill>
              <a:srgbClr val="D1D5DB"/>
            </a:solidFill>
            <a:prstDash val="solid"/>
          </a:ln>
        </p:spPr>
      </p:sp>
      <p:sp>
        <p:nvSpPr>
          <p:cNvPr id="29" name="Text 27"/>
          <p:cNvSpPr txBox="1"/>
          <p:nvPr/>
        </p:nvSpPr>
        <p:spPr>
          <a:xfrm>
            <a:off x="7507224" y="3584448"/>
            <a:ext cx="33832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0" name="Text 28"/>
          <p:cNvSpPr txBox="1"/>
          <p:nvPr/>
        </p:nvSpPr>
        <p:spPr>
          <a:xfrm>
            <a:off x="7616952" y="4105656"/>
            <a:ext cx="3163824" cy="347472"/>
          </a:xfrm>
          <a:prstGeom prst="rect">
            <a:avLst/>
          </a:prstGeom>
          <a:noFill/>
          <a:ln/>
        </p:spPr>
        <p:txBody>
          <a:bodyPr wrap="square" lIns="0" tIns="0" rIns="0" bIns="0" rtlCol="0" anchor="ctr"/>
          <a:lstStyle/>
          <a:p>
            <a:pPr algn="ctr" indent="0" marL="0">
              <a:buNone/>
            </a:pPr>
            <a:r>
              <a:rPr lang="en-US" sz="1150" b="1" dirty="0">
                <a:solidFill>
                  <a:srgbClr val="1F2739"/>
                </a:solidFill>
              </a:rPr>
              <a:t>4-Year Phase-In</a:t>
            </a:r>
            <a:endParaRPr lang="en-US" sz="1150" dirty="0"/>
          </a:p>
        </p:txBody>
      </p:sp>
      <p:sp>
        <p:nvSpPr>
          <p:cNvPr id="31" name="Text 29"/>
          <p:cNvSpPr txBox="1"/>
          <p:nvPr/>
        </p:nvSpPr>
        <p:spPr>
          <a:xfrm>
            <a:off x="7616952" y="4489704"/>
            <a:ext cx="3163824" cy="123444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Unlike GDPR which applied all at once causing chaos, EU AI Act phases in risk tier by tier — giving companies 4 years (2024-2028) to build compliance programmes.</a:t>
            </a:r>
            <a:endParaRPr lang="en-US" sz="1000" dirty="0"/>
          </a:p>
        </p:txBody>
      </p:sp>
      <p:sp>
        <p:nvSpPr>
          <p:cNvPr id="32" name="Shape 30"/>
          <p:cNvSpPr/>
          <p:nvPr/>
        </p:nvSpPr>
        <p:spPr>
          <a:xfrm>
            <a:off x="320040" y="5934456"/>
            <a:ext cx="3383280" cy="2377440"/>
          </a:xfrm>
          <a:prstGeom prst="roundRect">
            <a:avLst>
              <a:gd name="adj" fmla="val 3846"/>
            </a:avLst>
          </a:prstGeom>
          <a:solidFill>
            <a:srgbClr val="F5F5F5"/>
          </a:solidFill>
          <a:ln w="12700">
            <a:solidFill>
              <a:srgbClr val="D1D5DB"/>
            </a:solidFill>
            <a:prstDash val="solid"/>
          </a:ln>
        </p:spPr>
      </p:sp>
      <p:sp>
        <p:nvSpPr>
          <p:cNvPr id="33" name="Text 31"/>
          <p:cNvSpPr txBox="1"/>
          <p:nvPr/>
        </p:nvSpPr>
        <p:spPr>
          <a:xfrm>
            <a:off x="320040" y="6071616"/>
            <a:ext cx="33832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4" name="Text 32"/>
          <p:cNvSpPr txBox="1"/>
          <p:nvPr/>
        </p:nvSpPr>
        <p:spPr>
          <a:xfrm>
            <a:off x="429768" y="6592824"/>
            <a:ext cx="3163824" cy="347472"/>
          </a:xfrm>
          <a:prstGeom prst="rect">
            <a:avLst/>
          </a:prstGeom>
          <a:noFill/>
          <a:ln/>
        </p:spPr>
        <p:txBody>
          <a:bodyPr wrap="square" lIns="0" tIns="0" rIns="0" bIns="0" rtlCol="0" anchor="ctr"/>
          <a:lstStyle/>
          <a:p>
            <a:pPr algn="ctr" indent="0" marL="0">
              <a:buNone/>
            </a:pPr>
            <a:r>
              <a:rPr lang="en-US" sz="1150" b="1" dirty="0">
                <a:solidFill>
                  <a:srgbClr val="1F2739"/>
                </a:solidFill>
              </a:rPr>
              <a:t>Already Global</a:t>
            </a:r>
            <a:endParaRPr lang="en-US" sz="1150" dirty="0"/>
          </a:p>
        </p:txBody>
      </p:sp>
      <p:sp>
        <p:nvSpPr>
          <p:cNvPr id="35" name="Text 33"/>
          <p:cNvSpPr txBox="1"/>
          <p:nvPr/>
        </p:nvSpPr>
        <p:spPr>
          <a:xfrm>
            <a:off x="429768" y="6976872"/>
            <a:ext cx="3163824" cy="123444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Brazil, UK, Canada, Singapore have all referenced the EU AI Act in their own AI governance frameworks. The Brussels Effect is happening faster than with GDPR.</a:t>
            </a:r>
            <a:endParaRPr lang="en-US" sz="1000" dirty="0"/>
          </a:p>
        </p:txBody>
      </p:sp>
      <p:sp>
        <p:nvSpPr>
          <p:cNvPr id="36" name="Shape 34"/>
          <p:cNvSpPr/>
          <p:nvPr/>
        </p:nvSpPr>
        <p:spPr>
          <a:xfrm>
            <a:off x="3913632" y="5934456"/>
            <a:ext cx="3383280" cy="2377440"/>
          </a:xfrm>
          <a:prstGeom prst="roundRect">
            <a:avLst>
              <a:gd name="adj" fmla="val 3846"/>
            </a:avLst>
          </a:prstGeom>
          <a:solidFill>
            <a:srgbClr val="F5F5F5"/>
          </a:solidFill>
          <a:ln w="12700">
            <a:solidFill>
              <a:srgbClr val="D1D5DB"/>
            </a:solidFill>
            <a:prstDash val="solid"/>
          </a:ln>
        </p:spPr>
      </p:sp>
      <p:sp>
        <p:nvSpPr>
          <p:cNvPr id="37" name="Text 35"/>
          <p:cNvSpPr txBox="1"/>
          <p:nvPr/>
        </p:nvSpPr>
        <p:spPr>
          <a:xfrm>
            <a:off x="3913632" y="6071616"/>
            <a:ext cx="338328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38" name="Text 36"/>
          <p:cNvSpPr txBox="1"/>
          <p:nvPr/>
        </p:nvSpPr>
        <p:spPr>
          <a:xfrm>
            <a:off x="4023360" y="6592824"/>
            <a:ext cx="3163824" cy="347472"/>
          </a:xfrm>
          <a:prstGeom prst="rect">
            <a:avLst/>
          </a:prstGeom>
          <a:noFill/>
          <a:ln/>
        </p:spPr>
        <p:txBody>
          <a:bodyPr wrap="square" lIns="0" tIns="0" rIns="0" bIns="0" rtlCol="0" anchor="ctr"/>
          <a:lstStyle/>
          <a:p>
            <a:pPr algn="ctr" indent="0" marL="0">
              <a:buNone/>
            </a:pPr>
            <a:r>
              <a:rPr lang="en-US" sz="1150" b="1" dirty="0">
                <a:solidFill>
                  <a:srgbClr val="1F2739"/>
                </a:solidFill>
              </a:rPr>
              <a:t>EchoLeak = Art. 50 Violation</a:t>
            </a:r>
            <a:endParaRPr lang="en-US" sz="1150" dirty="0"/>
          </a:p>
        </p:txBody>
      </p:sp>
      <p:sp>
        <p:nvSpPr>
          <p:cNvPr id="39" name="Text 37"/>
          <p:cNvSpPr txBox="1"/>
          <p:nvPr/>
        </p:nvSpPr>
        <p:spPr>
          <a:xfrm>
            <a:off x="4023360" y="6976872"/>
            <a:ext cx="3163824" cy="123444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Microsoft Copilot's EchoLeak (CVE-2025-32711) would have violated EU AI Act Art. 50 transparency rules (now in force Aug 2026) in addition to being an ATLAS AML.T0051 attack.</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E95332"/>
          </a:solidFill>
          <a:ln w="12700">
            <a:solidFill>
              <a:srgbClr val="E95332"/>
            </a:solidFill>
            <a:prstDash val="solid"/>
          </a:ln>
        </p:spPr>
      </p:sp>
      <p:sp>
        <p:nvSpPr>
          <p:cNvPr id="3" name="Shape 1"/>
          <p:cNvSpPr/>
          <p:nvPr/>
        </p:nvSpPr>
        <p:spPr>
          <a:xfrm>
            <a:off x="11430000" y="0"/>
            <a:ext cx="758952" cy="6858000"/>
          </a:xfrm>
          <a:prstGeom prst="rect">
            <a:avLst/>
          </a:prstGeom>
          <a:solidFill>
            <a:srgbClr val="1F2739"/>
          </a:solidFill>
          <a:ln w="12700">
            <a:solidFill>
              <a:srgbClr val="1F2739"/>
            </a:solidFill>
            <a:prstDash val="solid"/>
          </a:ln>
        </p:spPr>
      </p:sp>
      <p:sp>
        <p:nvSpPr>
          <p:cNvPr id="4" name="Text 2"/>
          <p:cNvSpPr txBox="1"/>
          <p:nvPr/>
        </p:nvSpPr>
        <p:spPr>
          <a:xfrm>
            <a:off x="11448288" y="137160"/>
            <a:ext cx="731520" cy="1463040"/>
          </a:xfrm>
          <a:prstGeom prst="rect">
            <a:avLst/>
          </a:prstGeom>
          <a:noFill/>
          <a:ln/>
        </p:spPr>
        <p:txBody>
          <a:bodyPr wrap="square" lIns="0" tIns="0" rIns="0" bIns="0" rtlCol="0" anchor="ctr"/>
          <a:lstStyle/>
          <a:p>
            <a:pPr algn="ctr" indent="0" marL="0">
              <a:buNone/>
            </a:pPr>
            <a:r>
              <a:rPr lang="en-US" sz="800" b="1" dirty="0">
                <a:solidFill>
                  <a:srgbClr val="E95332"/>
                </a:solidFill>
              </a:rPr>
              <a:t>STA
</a:t>
            </a:r>
            <a:pPr algn="ctr" indent="0" marL="0">
              <a:buNone/>
            </a:pPr>
            <a:r>
              <a:rPr lang="en-US" sz="800" b="1" dirty="0">
                <a:solidFill>
                  <a:srgbClr val="E95332"/>
                </a:solidFill>
              </a:rPr>
              <a:t>CK
</a:t>
            </a:r>
            <a:pPr algn="ctr" indent="0" marL="0">
              <a:buNone/>
            </a:pPr>
            <a:r>
              <a:rPr lang="en-US" sz="600" b="1" dirty="0">
                <a:solidFill>
                  <a:srgbClr val="E95332"/>
                </a:solidFill>
              </a:rPr>
              <a:t>ROUTE
</a:t>
            </a:r>
            <a:pPr algn="ctr" indent="0" marL="0">
              <a:buNone/>
            </a:pPr>
            <a:r>
              <a:rPr lang="en-US" sz="500" dirty="0">
                <a:solidFill>
                  <a:srgbClr val="FFFFFF"/>
                </a:solidFill>
              </a:rPr>
              <a:t>AN
</a:t>
            </a:r>
            <a:pPr algn="ctr" indent="0" marL="0">
              <a:buNone/>
            </a:pPr>
            <a:r>
              <a:rPr lang="en-US" sz="700" b="1" dirty="0">
                <a:solidFill>
                  <a:srgbClr val="FFFFFF"/>
                </a:solidFill>
              </a:rPr>
              <a:t>NIIT
</a:t>
            </a:r>
            <a:pPr algn="ctr" indent="0" marL="0">
              <a:buNone/>
            </a:pPr>
            <a:r>
              <a:rPr lang="en-US" sz="400" dirty="0">
                <a:solidFill>
                  <a:srgbClr val="FFFFFF"/>
                </a:solidFill>
              </a:rPr>
              <a:t>VENTURE</a:t>
            </a:r>
            <a:endParaRPr lang="en-US" sz="800" dirty="0"/>
          </a:p>
        </p:txBody>
      </p:sp>
      <p:sp>
        <p:nvSpPr>
          <p:cNvPr id="5" name="Text 3"/>
          <p:cNvSpPr txBox="1"/>
          <p:nvPr/>
        </p:nvSpPr>
        <p:spPr>
          <a:xfrm>
            <a:off x="274320" y="6309360"/>
            <a:ext cx="10881360" cy="228600"/>
          </a:xfrm>
          <a:prstGeom prst="rect">
            <a:avLst/>
          </a:prstGeom>
          <a:noFill/>
          <a:ln/>
        </p:spPr>
        <p:txBody>
          <a:bodyPr wrap="square" rtlCol="0" anchor="ctr"/>
          <a:lstStyle/>
          <a:p>
            <a:pPr indent="0" marL="0">
              <a:buNone/>
            </a:pPr>
            <a:r>
              <a:rPr lang="en-US" sz="600" dirty="0">
                <a:solidFill>
                  <a:srgbClr val="8B949E"/>
                </a:solidFill>
              </a:rPr>
              <a:t>Confidential – Intellectual Property of NIIT Ltd. | © NIIT-StackRoute 2025-2026</a:t>
            </a:r>
            <a:endParaRPr lang="en-US" sz="600" dirty="0"/>
          </a:p>
        </p:txBody>
      </p:sp>
      <p:sp>
        <p:nvSpPr>
          <p:cNvPr id="6" name="Text 4"/>
          <p:cNvSpPr txBox="1"/>
          <p:nvPr/>
        </p:nvSpPr>
        <p:spPr>
          <a:xfrm>
            <a:off x="320040" y="164592"/>
            <a:ext cx="10789920" cy="502920"/>
          </a:xfrm>
          <a:prstGeom prst="rect">
            <a:avLst/>
          </a:prstGeom>
          <a:noFill/>
          <a:ln/>
        </p:spPr>
        <p:txBody>
          <a:bodyPr wrap="square" rtlCol="0" anchor="ctr"/>
          <a:lstStyle/>
          <a:p>
            <a:pPr indent="0" marL="0">
              <a:buNone/>
            </a:pPr>
            <a:r>
              <a:rPr lang="en-US" sz="2400" b="1" dirty="0">
                <a:solidFill>
                  <a:srgbClr val="E95332"/>
                </a:solidFill>
                <a:latin typeface="Candara" pitchFamily="34" charset="0"/>
                <a:ea typeface="Candara" pitchFamily="34" charset="-122"/>
                <a:cs typeface="Candara" pitchFamily="34" charset="-120"/>
              </a:rPr>
              <a:t>Key Takeaways — EU AI Act for AI Practitioners</a:t>
            </a:r>
            <a:endParaRPr lang="en-US" sz="2400" dirty="0"/>
          </a:p>
        </p:txBody>
      </p:sp>
      <p:sp>
        <p:nvSpPr>
          <p:cNvPr id="7" name="Shape 5"/>
          <p:cNvSpPr/>
          <p:nvPr/>
        </p:nvSpPr>
        <p:spPr>
          <a:xfrm>
            <a:off x="320040" y="694944"/>
            <a:ext cx="10789920" cy="18288"/>
          </a:xfrm>
          <a:prstGeom prst="rect">
            <a:avLst/>
          </a:prstGeom>
          <a:solidFill>
            <a:srgbClr val="E95332"/>
          </a:solidFill>
          <a:ln w="12700">
            <a:solidFill>
              <a:srgbClr val="E95332"/>
            </a:solidFill>
            <a:prstDash val="solid"/>
          </a:ln>
        </p:spPr>
      </p:sp>
      <p:sp>
        <p:nvSpPr>
          <p:cNvPr id="8" name="Shape 6"/>
          <p:cNvSpPr/>
          <p:nvPr/>
        </p:nvSpPr>
        <p:spPr>
          <a:xfrm>
            <a:off x="320040" y="841248"/>
            <a:ext cx="10789920" cy="384048"/>
          </a:xfrm>
          <a:prstGeom prst="roundRect">
            <a:avLst>
              <a:gd name="adj" fmla="val 16667"/>
            </a:avLst>
          </a:prstGeom>
          <a:solidFill>
            <a:srgbClr val="1F2739"/>
          </a:solidFill>
          <a:ln w="12700">
            <a:solidFill>
              <a:srgbClr val="1F2739"/>
            </a:solidFill>
            <a:prstDash val="solid"/>
          </a:ln>
        </p:spPr>
      </p:sp>
      <p:sp>
        <p:nvSpPr>
          <p:cNvPr id="9" name="Text 7"/>
          <p:cNvSpPr txBox="1"/>
          <p:nvPr/>
        </p:nvSpPr>
        <p:spPr>
          <a:xfrm>
            <a:off x="457200" y="877824"/>
            <a:ext cx="10515600" cy="310896"/>
          </a:xfrm>
          <a:prstGeom prst="rect">
            <a:avLst/>
          </a:prstGeom>
          <a:noFill/>
          <a:ln/>
        </p:spPr>
        <p:txBody>
          <a:bodyPr wrap="square" lIns="0" tIns="0" rIns="0" bIns="0" rtlCol="0" anchor="ctr"/>
          <a:lstStyle/>
          <a:p>
            <a:pPr indent="0" marL="0">
              <a:lnSpc>
                <a:spcPts val="1400"/>
              </a:lnSpc>
              <a:buNone/>
            </a:pPr>
            <a:r>
              <a:rPr lang="en-US" sz="1200" dirty="0">
                <a:solidFill>
                  <a:srgbClr val="FFFFFF"/>
                </a:solidFill>
              </a:rPr>
              <a:t>If you build, deploy or use AI in or for the EU market — the EU AI Act affects you. Here is what you must know.</a:t>
            </a:r>
            <a:endParaRPr lang="en-US" sz="1200" dirty="0"/>
          </a:p>
        </p:txBody>
      </p:sp>
      <p:sp>
        <p:nvSpPr>
          <p:cNvPr id="10" name="Shape 8"/>
          <p:cNvSpPr/>
          <p:nvPr/>
        </p:nvSpPr>
        <p:spPr>
          <a:xfrm>
            <a:off x="320040" y="1325880"/>
            <a:ext cx="5349240" cy="1481328"/>
          </a:xfrm>
          <a:prstGeom prst="roundRect">
            <a:avLst>
              <a:gd name="adj" fmla="val 5556"/>
            </a:avLst>
          </a:prstGeom>
          <a:solidFill>
            <a:srgbClr val="F5F5F5"/>
          </a:solidFill>
          <a:ln w="12700">
            <a:solidFill>
              <a:srgbClr val="DC2626"/>
            </a:solidFill>
            <a:prstDash val="solid"/>
          </a:ln>
        </p:spPr>
      </p:sp>
      <p:sp>
        <p:nvSpPr>
          <p:cNvPr id="11" name="Shape 9"/>
          <p:cNvSpPr/>
          <p:nvPr/>
        </p:nvSpPr>
        <p:spPr>
          <a:xfrm>
            <a:off x="429768" y="1417320"/>
            <a:ext cx="347472" cy="347472"/>
          </a:xfrm>
          <a:prstGeom prst="roundRect">
            <a:avLst>
              <a:gd name="adj" fmla="val 13158"/>
            </a:avLst>
          </a:prstGeom>
          <a:solidFill>
            <a:srgbClr val="DC2626"/>
          </a:solidFill>
          <a:ln w="12700">
            <a:solidFill>
              <a:srgbClr val="DC2626"/>
            </a:solidFill>
            <a:prstDash val="solid"/>
          </a:ln>
        </p:spPr>
      </p:sp>
      <p:sp>
        <p:nvSpPr>
          <p:cNvPr id="12" name="Text 10"/>
          <p:cNvSpPr txBox="1"/>
          <p:nvPr/>
        </p:nvSpPr>
        <p:spPr>
          <a:xfrm>
            <a:off x="429768" y="141732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3" name="Text 11"/>
          <p:cNvSpPr txBox="1"/>
          <p:nvPr/>
        </p:nvSpPr>
        <p:spPr>
          <a:xfrm>
            <a:off x="868680" y="1417320"/>
            <a:ext cx="4690872" cy="347472"/>
          </a:xfrm>
          <a:prstGeom prst="rect">
            <a:avLst/>
          </a:prstGeom>
          <a:noFill/>
          <a:ln/>
        </p:spPr>
        <p:txBody>
          <a:bodyPr wrap="square" lIns="0" tIns="0" rIns="0" bIns="0" rtlCol="0" anchor="ctr"/>
          <a:lstStyle/>
          <a:p>
            <a:pPr indent="0" marL="0">
              <a:buNone/>
            </a:pPr>
            <a:r>
              <a:rPr lang="en-US" sz="1100" b="1" dirty="0">
                <a:solidFill>
                  <a:srgbClr val="DC2626"/>
                </a:solidFill>
              </a:rPr>
              <a:t>Know your risk tier first</a:t>
            </a:r>
            <a:endParaRPr lang="en-US" sz="1100" dirty="0"/>
          </a:p>
        </p:txBody>
      </p:sp>
      <p:sp>
        <p:nvSpPr>
          <p:cNvPr id="14" name="Text 12"/>
          <p:cNvSpPr txBox="1"/>
          <p:nvPr/>
        </p:nvSpPr>
        <p:spPr>
          <a:xfrm>
            <a:off x="429768" y="1828800"/>
            <a:ext cx="5129784" cy="91440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Before anything else, determine whether your AI is Unacceptable (banned), High-Risk (regulated), Limited (transparency) or Minimal. This determines your obligations. Use the EU AI Act Compliance Checker at artificialintelligenceact.eu.</a:t>
            </a:r>
            <a:endParaRPr lang="en-US" sz="1000" dirty="0"/>
          </a:p>
        </p:txBody>
      </p:sp>
      <p:sp>
        <p:nvSpPr>
          <p:cNvPr id="15" name="Shape 13"/>
          <p:cNvSpPr/>
          <p:nvPr/>
        </p:nvSpPr>
        <p:spPr>
          <a:xfrm>
            <a:off x="5943600" y="1325880"/>
            <a:ext cx="5349240" cy="1481328"/>
          </a:xfrm>
          <a:prstGeom prst="roundRect">
            <a:avLst>
              <a:gd name="adj" fmla="val 5556"/>
            </a:avLst>
          </a:prstGeom>
          <a:solidFill>
            <a:srgbClr val="F5F5F5"/>
          </a:solidFill>
          <a:ln w="12700">
            <a:solidFill>
              <a:srgbClr val="D97706"/>
            </a:solidFill>
            <a:prstDash val="solid"/>
          </a:ln>
        </p:spPr>
      </p:sp>
      <p:sp>
        <p:nvSpPr>
          <p:cNvPr id="16" name="Shape 14"/>
          <p:cNvSpPr/>
          <p:nvPr/>
        </p:nvSpPr>
        <p:spPr>
          <a:xfrm>
            <a:off x="6053328" y="1417320"/>
            <a:ext cx="347472" cy="347472"/>
          </a:xfrm>
          <a:prstGeom prst="roundRect">
            <a:avLst>
              <a:gd name="adj" fmla="val 13158"/>
            </a:avLst>
          </a:prstGeom>
          <a:solidFill>
            <a:srgbClr val="D97706"/>
          </a:solidFill>
          <a:ln w="12700">
            <a:solidFill>
              <a:srgbClr val="D97706"/>
            </a:solidFill>
            <a:prstDash val="solid"/>
          </a:ln>
        </p:spPr>
      </p:sp>
      <p:sp>
        <p:nvSpPr>
          <p:cNvPr id="17" name="Text 15"/>
          <p:cNvSpPr txBox="1"/>
          <p:nvPr/>
        </p:nvSpPr>
        <p:spPr>
          <a:xfrm>
            <a:off x="6053328" y="1417320"/>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8" name="Text 16"/>
          <p:cNvSpPr txBox="1"/>
          <p:nvPr/>
        </p:nvSpPr>
        <p:spPr>
          <a:xfrm>
            <a:off x="6492240" y="1417320"/>
            <a:ext cx="4690872" cy="347472"/>
          </a:xfrm>
          <a:prstGeom prst="rect">
            <a:avLst/>
          </a:prstGeom>
          <a:noFill/>
          <a:ln/>
        </p:spPr>
        <p:txBody>
          <a:bodyPr wrap="square" lIns="0" tIns="0" rIns="0" bIns="0" rtlCol="0" anchor="ctr"/>
          <a:lstStyle/>
          <a:p>
            <a:pPr indent="0" marL="0">
              <a:buNone/>
            </a:pPr>
            <a:r>
              <a:rPr lang="en-US" sz="1100" b="1" dirty="0">
                <a:solidFill>
                  <a:srgbClr val="D97706"/>
                </a:solidFill>
              </a:rPr>
              <a:t>GPAI obligations are live</a:t>
            </a:r>
            <a:endParaRPr lang="en-US" sz="1100" dirty="0"/>
          </a:p>
        </p:txBody>
      </p:sp>
      <p:sp>
        <p:nvSpPr>
          <p:cNvPr id="19" name="Text 17"/>
          <p:cNvSpPr txBox="1"/>
          <p:nvPr/>
        </p:nvSpPr>
        <p:spPr>
          <a:xfrm>
            <a:off x="6053328" y="1828800"/>
            <a:ext cx="5129784" cy="91440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GPAI model obligations (Art. 53/55) have applied since 2 August 2025. If your organisation uses or builds on GPT-4, Gemini, or similar models, you are downstream — you must understand your provider's compliance posture.</a:t>
            </a:r>
            <a:endParaRPr lang="en-US" sz="1000" dirty="0"/>
          </a:p>
        </p:txBody>
      </p:sp>
      <p:sp>
        <p:nvSpPr>
          <p:cNvPr id="20" name="Shape 18"/>
          <p:cNvSpPr/>
          <p:nvPr/>
        </p:nvSpPr>
        <p:spPr>
          <a:xfrm>
            <a:off x="320040" y="2898648"/>
            <a:ext cx="5349240" cy="1481328"/>
          </a:xfrm>
          <a:prstGeom prst="roundRect">
            <a:avLst>
              <a:gd name="adj" fmla="val 5556"/>
            </a:avLst>
          </a:prstGeom>
          <a:solidFill>
            <a:srgbClr val="F5F5F5"/>
          </a:solidFill>
          <a:ln w="12700">
            <a:solidFill>
              <a:srgbClr val="7C3AED"/>
            </a:solidFill>
            <a:prstDash val="solid"/>
          </a:ln>
        </p:spPr>
      </p:sp>
      <p:sp>
        <p:nvSpPr>
          <p:cNvPr id="21" name="Shape 19"/>
          <p:cNvSpPr/>
          <p:nvPr/>
        </p:nvSpPr>
        <p:spPr>
          <a:xfrm>
            <a:off x="429768" y="2990088"/>
            <a:ext cx="347472" cy="347472"/>
          </a:xfrm>
          <a:prstGeom prst="roundRect">
            <a:avLst>
              <a:gd name="adj" fmla="val 13158"/>
            </a:avLst>
          </a:prstGeom>
          <a:solidFill>
            <a:srgbClr val="7C3AED"/>
          </a:solidFill>
          <a:ln w="12700">
            <a:solidFill>
              <a:srgbClr val="7C3AED"/>
            </a:solidFill>
            <a:prstDash val="solid"/>
          </a:ln>
        </p:spPr>
      </p:sp>
      <p:sp>
        <p:nvSpPr>
          <p:cNvPr id="22" name="Text 20"/>
          <p:cNvSpPr txBox="1"/>
          <p:nvPr/>
        </p:nvSpPr>
        <p:spPr>
          <a:xfrm>
            <a:off x="429768" y="29900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23" name="Text 21"/>
          <p:cNvSpPr txBox="1"/>
          <p:nvPr/>
        </p:nvSpPr>
        <p:spPr>
          <a:xfrm>
            <a:off x="868680" y="2990088"/>
            <a:ext cx="4690872" cy="347472"/>
          </a:xfrm>
          <a:prstGeom prst="rect">
            <a:avLst/>
          </a:prstGeom>
          <a:noFill/>
          <a:ln/>
        </p:spPr>
        <p:txBody>
          <a:bodyPr wrap="square" lIns="0" tIns="0" rIns="0" bIns="0" rtlCol="0" anchor="ctr"/>
          <a:lstStyle/>
          <a:p>
            <a:pPr indent="0" marL="0">
              <a:buNone/>
            </a:pPr>
            <a:r>
              <a:rPr lang="en-US" sz="1100" b="1" dirty="0">
                <a:solidFill>
                  <a:srgbClr val="7C3AED"/>
                </a:solidFill>
              </a:rPr>
              <a:t>ATLAS red-teaming = EU AI Act compliance</a:t>
            </a:r>
            <a:endParaRPr lang="en-US" sz="1100" dirty="0"/>
          </a:p>
        </p:txBody>
      </p:sp>
      <p:sp>
        <p:nvSpPr>
          <p:cNvPr id="24" name="Text 22"/>
          <p:cNvSpPr txBox="1"/>
          <p:nvPr/>
        </p:nvSpPr>
        <p:spPr>
          <a:xfrm>
            <a:off x="429768" y="3401568"/>
            <a:ext cx="5129784" cy="91440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Adversarial testing required by Art. 55 maps directly to MITRE ATLAS methodology. Running ATLAS-based red team exercises is how you evidence compliance with the EU AI Act's adversarial testing obligation.</a:t>
            </a:r>
            <a:endParaRPr lang="en-US" sz="1000" dirty="0"/>
          </a:p>
        </p:txBody>
      </p:sp>
      <p:sp>
        <p:nvSpPr>
          <p:cNvPr id="25" name="Shape 23"/>
          <p:cNvSpPr/>
          <p:nvPr/>
        </p:nvSpPr>
        <p:spPr>
          <a:xfrm>
            <a:off x="5943600" y="2898648"/>
            <a:ext cx="5349240" cy="1481328"/>
          </a:xfrm>
          <a:prstGeom prst="roundRect">
            <a:avLst>
              <a:gd name="adj" fmla="val 5556"/>
            </a:avLst>
          </a:prstGeom>
          <a:solidFill>
            <a:srgbClr val="F5F5F5"/>
          </a:solidFill>
          <a:ln w="12700">
            <a:solidFill>
              <a:srgbClr val="2563EB"/>
            </a:solidFill>
            <a:prstDash val="solid"/>
          </a:ln>
        </p:spPr>
      </p:sp>
      <p:sp>
        <p:nvSpPr>
          <p:cNvPr id="26" name="Shape 24"/>
          <p:cNvSpPr/>
          <p:nvPr/>
        </p:nvSpPr>
        <p:spPr>
          <a:xfrm>
            <a:off x="6053328" y="2990088"/>
            <a:ext cx="347472" cy="347472"/>
          </a:xfrm>
          <a:prstGeom prst="roundRect">
            <a:avLst>
              <a:gd name="adj" fmla="val 13158"/>
            </a:avLst>
          </a:prstGeom>
          <a:solidFill>
            <a:srgbClr val="2563EB"/>
          </a:solidFill>
          <a:ln w="12700">
            <a:solidFill>
              <a:srgbClr val="2563EB"/>
            </a:solidFill>
            <a:prstDash val="solid"/>
          </a:ln>
        </p:spPr>
      </p:sp>
      <p:sp>
        <p:nvSpPr>
          <p:cNvPr id="27" name="Text 25"/>
          <p:cNvSpPr txBox="1"/>
          <p:nvPr/>
        </p:nvSpPr>
        <p:spPr>
          <a:xfrm>
            <a:off x="6053328" y="2990088"/>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8" name="Text 26"/>
          <p:cNvSpPr txBox="1"/>
          <p:nvPr/>
        </p:nvSpPr>
        <p:spPr>
          <a:xfrm>
            <a:off x="6492240" y="2990088"/>
            <a:ext cx="4690872" cy="347472"/>
          </a:xfrm>
          <a:prstGeom prst="rect">
            <a:avLst/>
          </a:prstGeom>
          <a:noFill/>
          <a:ln/>
        </p:spPr>
        <p:txBody>
          <a:bodyPr wrap="square" lIns="0" tIns="0" rIns="0" bIns="0" rtlCol="0" anchor="ctr"/>
          <a:lstStyle/>
          <a:p>
            <a:pPr indent="0" marL="0">
              <a:buNone/>
            </a:pPr>
            <a:r>
              <a:rPr lang="en-US" sz="1100" b="1" dirty="0">
                <a:solidFill>
                  <a:srgbClr val="2563EB"/>
                </a:solidFill>
              </a:rPr>
              <a:t>Transparency rules are in force (Aug 2026)</a:t>
            </a:r>
            <a:endParaRPr lang="en-US" sz="1100" dirty="0"/>
          </a:p>
        </p:txBody>
      </p:sp>
      <p:sp>
        <p:nvSpPr>
          <p:cNvPr id="29" name="Text 27"/>
          <p:cNvSpPr txBox="1"/>
          <p:nvPr/>
        </p:nvSpPr>
        <p:spPr>
          <a:xfrm>
            <a:off x="6053328" y="3401568"/>
            <a:ext cx="5129784" cy="91440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Art. 50 transparency rules — chatbot disclosure, deepfake labelling — apply from 2 August 2026. EchoLeak-style attacks that extract AI system prompts via indirect injection are both an ATLAS threat and a regulatory risk.</a:t>
            </a:r>
            <a:endParaRPr lang="en-US" sz="1000" dirty="0"/>
          </a:p>
        </p:txBody>
      </p:sp>
      <p:sp>
        <p:nvSpPr>
          <p:cNvPr id="30" name="Shape 28"/>
          <p:cNvSpPr/>
          <p:nvPr/>
        </p:nvSpPr>
        <p:spPr>
          <a:xfrm>
            <a:off x="320040" y="4471416"/>
            <a:ext cx="5349240" cy="1481328"/>
          </a:xfrm>
          <a:prstGeom prst="roundRect">
            <a:avLst>
              <a:gd name="adj" fmla="val 5556"/>
            </a:avLst>
          </a:prstGeom>
          <a:solidFill>
            <a:srgbClr val="F5F5F5"/>
          </a:solidFill>
          <a:ln w="12700">
            <a:solidFill>
              <a:srgbClr val="16A34A"/>
            </a:solidFill>
            <a:prstDash val="solid"/>
          </a:ln>
        </p:spPr>
      </p:sp>
      <p:sp>
        <p:nvSpPr>
          <p:cNvPr id="31" name="Shape 29"/>
          <p:cNvSpPr/>
          <p:nvPr/>
        </p:nvSpPr>
        <p:spPr>
          <a:xfrm>
            <a:off x="429768" y="4562856"/>
            <a:ext cx="347472" cy="347472"/>
          </a:xfrm>
          <a:prstGeom prst="roundRect">
            <a:avLst>
              <a:gd name="adj" fmla="val 13158"/>
            </a:avLst>
          </a:prstGeom>
          <a:solidFill>
            <a:srgbClr val="16A34A"/>
          </a:solidFill>
          <a:ln w="12700">
            <a:solidFill>
              <a:srgbClr val="16A34A"/>
            </a:solidFill>
            <a:prstDash val="solid"/>
          </a:ln>
        </p:spPr>
      </p:sp>
      <p:sp>
        <p:nvSpPr>
          <p:cNvPr id="32" name="Text 30"/>
          <p:cNvSpPr txBox="1"/>
          <p:nvPr/>
        </p:nvSpPr>
        <p:spPr>
          <a:xfrm>
            <a:off x="429768" y="456285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5</a:t>
            </a:r>
            <a:endParaRPr lang="en-US" sz="1400" dirty="0"/>
          </a:p>
        </p:txBody>
      </p:sp>
      <p:sp>
        <p:nvSpPr>
          <p:cNvPr id="33" name="Text 31"/>
          <p:cNvSpPr txBox="1"/>
          <p:nvPr/>
        </p:nvSpPr>
        <p:spPr>
          <a:xfrm>
            <a:off x="868680" y="4562856"/>
            <a:ext cx="4690872" cy="347472"/>
          </a:xfrm>
          <a:prstGeom prst="rect">
            <a:avLst/>
          </a:prstGeom>
          <a:noFill/>
          <a:ln/>
        </p:spPr>
        <p:txBody>
          <a:bodyPr wrap="square" lIns="0" tIns="0" rIns="0" bIns="0" rtlCol="0" anchor="ctr"/>
          <a:lstStyle/>
          <a:p>
            <a:pPr indent="0" marL="0">
              <a:buNone/>
            </a:pPr>
            <a:r>
              <a:rPr lang="en-US" sz="1100" b="1" dirty="0">
                <a:solidFill>
                  <a:srgbClr val="16A34A"/>
                </a:solidFill>
              </a:rPr>
              <a:t>Fines exceed GDPR</a:t>
            </a:r>
            <a:endParaRPr lang="en-US" sz="1100" dirty="0"/>
          </a:p>
        </p:txBody>
      </p:sp>
      <p:sp>
        <p:nvSpPr>
          <p:cNvPr id="34" name="Text 32"/>
          <p:cNvSpPr txBox="1"/>
          <p:nvPr/>
        </p:nvSpPr>
        <p:spPr>
          <a:xfrm>
            <a:off x="429768" y="4974336"/>
            <a:ext cx="5129784" cy="91440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Maximum penalty is €35M or 7% of global annual revenue — 75% higher than GDPR's 4%. For systemic-risk GPAI, failure to red-team or report incidents carries up to €15M or 3% of global turnover.</a:t>
            </a:r>
            <a:endParaRPr lang="en-US" sz="1000" dirty="0"/>
          </a:p>
        </p:txBody>
      </p:sp>
      <p:sp>
        <p:nvSpPr>
          <p:cNvPr id="35" name="Shape 33"/>
          <p:cNvSpPr/>
          <p:nvPr/>
        </p:nvSpPr>
        <p:spPr>
          <a:xfrm>
            <a:off x="5943600" y="4471416"/>
            <a:ext cx="5349240" cy="1481328"/>
          </a:xfrm>
          <a:prstGeom prst="roundRect">
            <a:avLst>
              <a:gd name="adj" fmla="val 5556"/>
            </a:avLst>
          </a:prstGeom>
          <a:solidFill>
            <a:srgbClr val="F5F5F5"/>
          </a:solidFill>
          <a:ln w="12700">
            <a:solidFill>
              <a:srgbClr val="0891B2"/>
            </a:solidFill>
            <a:prstDash val="solid"/>
          </a:ln>
        </p:spPr>
      </p:sp>
      <p:sp>
        <p:nvSpPr>
          <p:cNvPr id="36" name="Shape 34"/>
          <p:cNvSpPr/>
          <p:nvPr/>
        </p:nvSpPr>
        <p:spPr>
          <a:xfrm>
            <a:off x="6053328" y="4562856"/>
            <a:ext cx="347472" cy="347472"/>
          </a:xfrm>
          <a:prstGeom prst="roundRect">
            <a:avLst>
              <a:gd name="adj" fmla="val 13158"/>
            </a:avLst>
          </a:prstGeom>
          <a:solidFill>
            <a:srgbClr val="0891B2"/>
          </a:solidFill>
          <a:ln w="12700">
            <a:solidFill>
              <a:srgbClr val="0891B2"/>
            </a:solidFill>
            <a:prstDash val="solid"/>
          </a:ln>
        </p:spPr>
      </p:sp>
      <p:sp>
        <p:nvSpPr>
          <p:cNvPr id="37" name="Text 35"/>
          <p:cNvSpPr txBox="1"/>
          <p:nvPr/>
        </p:nvSpPr>
        <p:spPr>
          <a:xfrm>
            <a:off x="6053328" y="4562856"/>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rPr>
              <a:t>6</a:t>
            </a:r>
            <a:endParaRPr lang="en-US" sz="1400" dirty="0"/>
          </a:p>
        </p:txBody>
      </p:sp>
      <p:sp>
        <p:nvSpPr>
          <p:cNvPr id="38" name="Text 36"/>
          <p:cNvSpPr txBox="1"/>
          <p:nvPr/>
        </p:nvSpPr>
        <p:spPr>
          <a:xfrm>
            <a:off x="6492240" y="4562856"/>
            <a:ext cx="4690872" cy="347472"/>
          </a:xfrm>
          <a:prstGeom prst="rect">
            <a:avLst/>
          </a:prstGeom>
          <a:noFill/>
          <a:ln/>
        </p:spPr>
        <p:txBody>
          <a:bodyPr wrap="square" lIns="0" tIns="0" rIns="0" bIns="0" rtlCol="0" anchor="ctr"/>
          <a:lstStyle/>
          <a:p>
            <a:pPr indent="0" marL="0">
              <a:buNone/>
            </a:pPr>
            <a:r>
              <a:rPr lang="en-US" sz="1100" b="1" dirty="0">
                <a:solidFill>
                  <a:srgbClr val="0891B2"/>
                </a:solidFill>
              </a:rPr>
              <a:t>Act now on high-risk AI</a:t>
            </a:r>
            <a:endParaRPr lang="en-US" sz="1100" dirty="0"/>
          </a:p>
        </p:txBody>
      </p:sp>
      <p:sp>
        <p:nvSpPr>
          <p:cNvPr id="39" name="Text 37"/>
          <p:cNvSpPr txBox="1"/>
          <p:nvPr/>
        </p:nvSpPr>
        <p:spPr>
          <a:xfrm>
            <a:off x="6053328" y="4974336"/>
            <a:ext cx="5129784" cy="914400"/>
          </a:xfrm>
          <a:prstGeom prst="rect">
            <a:avLst/>
          </a:prstGeom>
          <a:noFill/>
          <a:ln/>
        </p:spPr>
        <p:txBody>
          <a:bodyPr wrap="square" lIns="0" tIns="0" rIns="0" bIns="0" rtlCol="0" anchor="t"/>
          <a:lstStyle/>
          <a:p>
            <a:pPr indent="0" marL="0">
              <a:lnSpc>
                <a:spcPts val="1400"/>
              </a:lnSpc>
              <a:buNone/>
            </a:pPr>
            <a:r>
              <a:rPr lang="en-US" sz="1000" dirty="0">
                <a:solidFill>
                  <a:srgbClr val="374151"/>
                </a:solidFill>
              </a:rPr>
              <a:t>Annex III (HR, credit, education, law enforcement AI) obligations apply 2 December 2027 — 14 months away. Compliance programmes for high-risk AI typically take 12-18 months to build. Starting now is the minimum viable timeline.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54864"/>
          </a:xfrm>
          <a:prstGeom prst="rect">
            <a:avLst/>
          </a:prstGeom>
          <a:solidFill>
            <a:srgbClr val="E95332"/>
          </a:solidFill>
          <a:ln w="12700">
            <a:solidFill>
              <a:srgbClr val="E95332"/>
            </a:solidFill>
            <a:prstDash val="solid"/>
          </a:ln>
        </p:spPr>
      </p:sp>
      <p:sp>
        <p:nvSpPr>
          <p:cNvPr id="3" name="Shape 1"/>
          <p:cNvSpPr/>
          <p:nvPr/>
        </p:nvSpPr>
        <p:spPr>
          <a:xfrm>
            <a:off x="11430000" y="0"/>
            <a:ext cx="758952" cy="6858000"/>
          </a:xfrm>
          <a:prstGeom prst="rect">
            <a:avLst/>
          </a:prstGeom>
          <a:solidFill>
            <a:srgbClr val="1F2739"/>
          </a:solidFill>
          <a:ln w="12700">
            <a:solidFill>
              <a:srgbClr val="1F2739"/>
            </a:solidFill>
            <a:prstDash val="solid"/>
          </a:ln>
        </p:spPr>
      </p:sp>
      <p:sp>
        <p:nvSpPr>
          <p:cNvPr id="4" name="Text 2"/>
          <p:cNvSpPr txBox="1"/>
          <p:nvPr/>
        </p:nvSpPr>
        <p:spPr>
          <a:xfrm>
            <a:off x="11448288" y="137160"/>
            <a:ext cx="731520" cy="1463040"/>
          </a:xfrm>
          <a:prstGeom prst="rect">
            <a:avLst/>
          </a:prstGeom>
          <a:noFill/>
          <a:ln/>
        </p:spPr>
        <p:txBody>
          <a:bodyPr wrap="square" lIns="0" tIns="0" rIns="0" bIns="0" rtlCol="0" anchor="ctr"/>
          <a:lstStyle/>
          <a:p>
            <a:pPr algn="ctr" indent="0" marL="0">
              <a:buNone/>
            </a:pPr>
            <a:r>
              <a:rPr lang="en-US" sz="800" b="1" dirty="0">
                <a:solidFill>
                  <a:srgbClr val="E95332"/>
                </a:solidFill>
              </a:rPr>
              <a:t>STA
</a:t>
            </a:r>
            <a:pPr algn="ctr" indent="0" marL="0">
              <a:buNone/>
            </a:pPr>
            <a:r>
              <a:rPr lang="en-US" sz="800" b="1" dirty="0">
                <a:solidFill>
                  <a:srgbClr val="E95332"/>
                </a:solidFill>
              </a:rPr>
              <a:t>CK
</a:t>
            </a:r>
            <a:pPr algn="ctr" indent="0" marL="0">
              <a:buNone/>
            </a:pPr>
            <a:r>
              <a:rPr lang="en-US" sz="600" b="1" dirty="0">
                <a:solidFill>
                  <a:srgbClr val="E95332"/>
                </a:solidFill>
              </a:rPr>
              <a:t>ROUTE
</a:t>
            </a:r>
            <a:pPr algn="ctr" indent="0" marL="0">
              <a:buNone/>
            </a:pPr>
            <a:r>
              <a:rPr lang="en-US" sz="500" dirty="0">
                <a:solidFill>
                  <a:srgbClr val="FFFFFF"/>
                </a:solidFill>
              </a:rPr>
              <a:t>AN
</a:t>
            </a:r>
            <a:pPr algn="ctr" indent="0" marL="0">
              <a:buNone/>
            </a:pPr>
            <a:r>
              <a:rPr lang="en-US" sz="700" b="1" dirty="0">
                <a:solidFill>
                  <a:srgbClr val="FFFFFF"/>
                </a:solidFill>
              </a:rPr>
              <a:t>NIIT
</a:t>
            </a:r>
            <a:pPr algn="ctr" indent="0" marL="0">
              <a:buNone/>
            </a:pPr>
            <a:r>
              <a:rPr lang="en-US" sz="400" dirty="0">
                <a:solidFill>
                  <a:srgbClr val="FFFFFF"/>
                </a:solidFill>
              </a:rPr>
              <a:t>VENTURE</a:t>
            </a:r>
            <a:endParaRPr lang="en-US" sz="800" dirty="0"/>
          </a:p>
        </p:txBody>
      </p:sp>
      <p:sp>
        <p:nvSpPr>
          <p:cNvPr id="5" name="Text 3"/>
          <p:cNvSpPr txBox="1"/>
          <p:nvPr/>
        </p:nvSpPr>
        <p:spPr>
          <a:xfrm>
            <a:off x="274320" y="6309360"/>
            <a:ext cx="10881360" cy="228600"/>
          </a:xfrm>
          <a:prstGeom prst="rect">
            <a:avLst/>
          </a:prstGeom>
          <a:noFill/>
          <a:ln/>
        </p:spPr>
        <p:txBody>
          <a:bodyPr wrap="square" rtlCol="0" anchor="ctr"/>
          <a:lstStyle/>
          <a:p>
            <a:pPr indent="0" marL="0">
              <a:buNone/>
            </a:pPr>
            <a:r>
              <a:rPr lang="en-US" sz="600" dirty="0">
                <a:solidFill>
                  <a:srgbClr val="8B949E"/>
                </a:solidFill>
              </a:rPr>
              <a:t>Confidential – Intellectual Property of NIIT Ltd. | © NIIT-StackRoute 2025-2026</a:t>
            </a:r>
            <a:endParaRPr lang="en-US" sz="600" dirty="0"/>
          </a:p>
        </p:txBody>
      </p:sp>
      <p:sp>
        <p:nvSpPr>
          <p:cNvPr id="6" name="Text 4"/>
          <p:cNvSpPr txBox="1"/>
          <p:nvPr/>
        </p:nvSpPr>
        <p:spPr>
          <a:xfrm>
            <a:off x="320040" y="164592"/>
            <a:ext cx="10789920" cy="502920"/>
          </a:xfrm>
          <a:prstGeom prst="rect">
            <a:avLst/>
          </a:prstGeom>
          <a:noFill/>
          <a:ln/>
        </p:spPr>
        <p:txBody>
          <a:bodyPr wrap="square" rtlCol="0" anchor="ctr"/>
          <a:lstStyle/>
          <a:p>
            <a:pPr indent="0" marL="0">
              <a:buNone/>
            </a:pPr>
            <a:r>
              <a:rPr lang="en-US" sz="2400" b="1" dirty="0">
                <a:solidFill>
                  <a:srgbClr val="E95332"/>
                </a:solidFill>
                <a:latin typeface="Candara" pitchFamily="34" charset="0"/>
                <a:ea typeface="Candara" pitchFamily="34" charset="-122"/>
                <a:cs typeface="Candara" pitchFamily="34" charset="-120"/>
              </a:rPr>
              <a:t>Knowledge Check — EU AI Act</a:t>
            </a:r>
            <a:endParaRPr lang="en-US" sz="2400" dirty="0"/>
          </a:p>
        </p:txBody>
      </p:sp>
      <p:sp>
        <p:nvSpPr>
          <p:cNvPr id="7" name="Shape 5"/>
          <p:cNvSpPr/>
          <p:nvPr/>
        </p:nvSpPr>
        <p:spPr>
          <a:xfrm>
            <a:off x="320040" y="694944"/>
            <a:ext cx="10789920" cy="18288"/>
          </a:xfrm>
          <a:prstGeom prst="rect">
            <a:avLst/>
          </a:prstGeom>
          <a:solidFill>
            <a:srgbClr val="E95332"/>
          </a:solidFill>
          <a:ln w="12700">
            <a:solidFill>
              <a:srgbClr val="E95332"/>
            </a:solidFill>
            <a:prstDash val="solid"/>
          </a:ln>
        </p:spPr>
      </p:sp>
      <p:sp>
        <p:nvSpPr>
          <p:cNvPr id="8" name="Shape 6"/>
          <p:cNvSpPr/>
          <p:nvPr/>
        </p:nvSpPr>
        <p:spPr>
          <a:xfrm>
            <a:off x="320040" y="841248"/>
            <a:ext cx="10789920" cy="749808"/>
          </a:xfrm>
          <a:prstGeom prst="roundRect">
            <a:avLst>
              <a:gd name="adj" fmla="val 9756"/>
            </a:avLst>
          </a:prstGeom>
          <a:solidFill>
            <a:srgbClr val="EEF2FF"/>
          </a:solidFill>
          <a:ln w="12700">
            <a:solidFill>
              <a:srgbClr val="2563EB"/>
            </a:solidFill>
            <a:prstDash val="solid"/>
          </a:ln>
        </p:spPr>
      </p:sp>
      <p:sp>
        <p:nvSpPr>
          <p:cNvPr id="9" name="Text 7"/>
          <p:cNvSpPr txBox="1"/>
          <p:nvPr/>
        </p:nvSpPr>
        <p:spPr>
          <a:xfrm>
            <a:off x="457200" y="877824"/>
            <a:ext cx="10515600" cy="676656"/>
          </a:xfrm>
          <a:prstGeom prst="rect">
            <a:avLst/>
          </a:prstGeom>
          <a:noFill/>
          <a:ln/>
        </p:spPr>
        <p:txBody>
          <a:bodyPr wrap="square" lIns="0" tIns="0" rIns="0" bIns="0" rtlCol="0" anchor="ctr"/>
          <a:lstStyle/>
          <a:p>
            <a:pPr indent="0" marL="0">
              <a:lnSpc>
                <a:spcPts val="1700"/>
              </a:lnSpc>
              <a:buNone/>
            </a:pPr>
            <a:r>
              <a:rPr lang="en-US" sz="1300" b="1" dirty="0">
                <a:solidFill>
                  <a:srgbClr val="1F2739"/>
                </a:solidFill>
              </a:rPr>
              <a:t>Q:  Under the EU AI Act, a company uses AI to automatically rank and reject job applicants based on their CV and a social media analysis that infers personality traits. Assuming the AI Act is fully in force, which risk tier and articles apply?</a:t>
            </a:r>
            <a:endParaRPr lang="en-US" sz="1300" dirty="0"/>
          </a:p>
        </p:txBody>
      </p:sp>
      <p:sp>
        <p:nvSpPr>
          <p:cNvPr id="10" name="Shape 8"/>
          <p:cNvSpPr/>
          <p:nvPr/>
        </p:nvSpPr>
        <p:spPr>
          <a:xfrm>
            <a:off x="320040" y="1737360"/>
            <a:ext cx="10789920" cy="877824"/>
          </a:xfrm>
          <a:prstGeom prst="roundRect">
            <a:avLst>
              <a:gd name="adj" fmla="val 8333"/>
            </a:avLst>
          </a:prstGeom>
          <a:solidFill>
            <a:srgbClr val="F5F5F5"/>
          </a:solidFill>
          <a:ln w="12700">
            <a:solidFill>
              <a:srgbClr val="D1D5DB"/>
            </a:solidFill>
            <a:prstDash val="solid"/>
          </a:ln>
        </p:spPr>
      </p:sp>
      <p:sp>
        <p:nvSpPr>
          <p:cNvPr id="11" name="Shape 9"/>
          <p:cNvSpPr/>
          <p:nvPr/>
        </p:nvSpPr>
        <p:spPr>
          <a:xfrm>
            <a:off x="411480" y="1938528"/>
            <a:ext cx="402336" cy="402336"/>
          </a:xfrm>
          <a:prstGeom prst="roundRect">
            <a:avLst>
              <a:gd name="adj" fmla="val 11364"/>
            </a:avLst>
          </a:prstGeom>
          <a:solidFill>
            <a:srgbClr val="1F2739"/>
          </a:solidFill>
          <a:ln w="12700">
            <a:solidFill>
              <a:srgbClr val="1F2739"/>
            </a:solidFill>
            <a:prstDash val="solid"/>
          </a:ln>
        </p:spPr>
      </p:sp>
      <p:sp>
        <p:nvSpPr>
          <p:cNvPr id="12" name="Text 10"/>
          <p:cNvSpPr txBox="1"/>
          <p:nvPr/>
        </p:nvSpPr>
        <p:spPr>
          <a:xfrm>
            <a:off x="411480" y="1956816"/>
            <a:ext cx="402336" cy="365760"/>
          </a:xfrm>
          <a:prstGeom prst="rect">
            <a:avLst/>
          </a:prstGeom>
          <a:noFill/>
          <a:ln/>
        </p:spPr>
        <p:txBody>
          <a:bodyPr wrap="square" lIns="0" tIns="0" rIns="0" bIns="0" rtlCol="0" anchor="ctr"/>
          <a:lstStyle/>
          <a:p>
            <a:pPr algn="ctr" indent="0" marL="0">
              <a:buNone/>
            </a:pPr>
            <a:r>
              <a:rPr lang="en-US" sz="1300" b="1" dirty="0">
                <a:solidFill>
                  <a:srgbClr val="FFFFFF"/>
                </a:solidFill>
              </a:rPr>
              <a:t>A</a:t>
            </a:r>
            <a:endParaRPr lang="en-US" sz="1300" dirty="0"/>
          </a:p>
        </p:txBody>
      </p:sp>
      <p:sp>
        <p:nvSpPr>
          <p:cNvPr id="13" name="Text 11"/>
          <p:cNvSpPr txBox="1"/>
          <p:nvPr/>
        </p:nvSpPr>
        <p:spPr>
          <a:xfrm>
            <a:off x="932688" y="1828800"/>
            <a:ext cx="9829800" cy="694944"/>
          </a:xfrm>
          <a:prstGeom prst="rect">
            <a:avLst/>
          </a:prstGeom>
          <a:noFill/>
          <a:ln/>
        </p:spPr>
        <p:txBody>
          <a:bodyPr wrap="square" lIns="0" tIns="0" rIns="0" bIns="0" rtlCol="0" anchor="ctr"/>
          <a:lstStyle/>
          <a:p>
            <a:pPr indent="0" marL="0">
              <a:lnSpc>
                <a:spcPts val="1500"/>
              </a:lnSpc>
              <a:buNone/>
            </a:pPr>
            <a:r>
              <a:rPr lang="en-US" sz="1150" dirty="0">
                <a:solidFill>
                  <a:srgbClr val="374151"/>
                </a:solidFill>
              </a:rPr>
              <a:t>Minimal Risk — no obligations apply because CV screening is a standard business practice and the company is merely automating what humans already do.</a:t>
            </a:r>
            <a:endParaRPr lang="en-US" sz="1150" dirty="0"/>
          </a:p>
        </p:txBody>
      </p:sp>
      <p:sp>
        <p:nvSpPr>
          <p:cNvPr id="14" name="Shape 12"/>
          <p:cNvSpPr/>
          <p:nvPr/>
        </p:nvSpPr>
        <p:spPr>
          <a:xfrm>
            <a:off x="320040" y="2706624"/>
            <a:ext cx="10789920" cy="877824"/>
          </a:xfrm>
          <a:prstGeom prst="roundRect">
            <a:avLst>
              <a:gd name="adj" fmla="val 8333"/>
            </a:avLst>
          </a:prstGeom>
          <a:solidFill>
            <a:srgbClr val="F5F5F5"/>
          </a:solidFill>
          <a:ln w="12700">
            <a:solidFill>
              <a:srgbClr val="D1D5DB"/>
            </a:solidFill>
            <a:prstDash val="solid"/>
          </a:ln>
        </p:spPr>
      </p:sp>
      <p:sp>
        <p:nvSpPr>
          <p:cNvPr id="15" name="Shape 13"/>
          <p:cNvSpPr/>
          <p:nvPr/>
        </p:nvSpPr>
        <p:spPr>
          <a:xfrm>
            <a:off x="411480" y="2907792"/>
            <a:ext cx="402336" cy="402336"/>
          </a:xfrm>
          <a:prstGeom prst="roundRect">
            <a:avLst>
              <a:gd name="adj" fmla="val 11364"/>
            </a:avLst>
          </a:prstGeom>
          <a:solidFill>
            <a:srgbClr val="1F2739"/>
          </a:solidFill>
          <a:ln w="12700">
            <a:solidFill>
              <a:srgbClr val="1F2739"/>
            </a:solidFill>
            <a:prstDash val="solid"/>
          </a:ln>
        </p:spPr>
      </p:sp>
      <p:sp>
        <p:nvSpPr>
          <p:cNvPr id="16" name="Text 14"/>
          <p:cNvSpPr txBox="1"/>
          <p:nvPr/>
        </p:nvSpPr>
        <p:spPr>
          <a:xfrm>
            <a:off x="411480" y="2926080"/>
            <a:ext cx="402336" cy="365760"/>
          </a:xfrm>
          <a:prstGeom prst="rect">
            <a:avLst/>
          </a:prstGeom>
          <a:noFill/>
          <a:ln/>
        </p:spPr>
        <p:txBody>
          <a:bodyPr wrap="square" lIns="0" tIns="0" rIns="0" bIns="0" rtlCol="0" anchor="ctr"/>
          <a:lstStyle/>
          <a:p>
            <a:pPr algn="ctr" indent="0" marL="0">
              <a:buNone/>
            </a:pPr>
            <a:r>
              <a:rPr lang="en-US" sz="1300" b="1" dirty="0">
                <a:solidFill>
                  <a:srgbClr val="FFFFFF"/>
                </a:solidFill>
              </a:rPr>
              <a:t>B</a:t>
            </a:r>
            <a:endParaRPr lang="en-US" sz="1300" dirty="0"/>
          </a:p>
        </p:txBody>
      </p:sp>
      <p:sp>
        <p:nvSpPr>
          <p:cNvPr id="17" name="Text 15"/>
          <p:cNvSpPr txBox="1"/>
          <p:nvPr/>
        </p:nvSpPr>
        <p:spPr>
          <a:xfrm>
            <a:off x="932688" y="2798064"/>
            <a:ext cx="9829800" cy="694944"/>
          </a:xfrm>
          <a:prstGeom prst="rect">
            <a:avLst/>
          </a:prstGeom>
          <a:noFill/>
          <a:ln/>
        </p:spPr>
        <p:txBody>
          <a:bodyPr wrap="square" lIns="0" tIns="0" rIns="0" bIns="0" rtlCol="0" anchor="ctr"/>
          <a:lstStyle/>
          <a:p>
            <a:pPr indent="0" marL="0">
              <a:lnSpc>
                <a:spcPts val="1500"/>
              </a:lnSpc>
              <a:buNone/>
            </a:pPr>
            <a:r>
              <a:rPr lang="en-US" sz="1150" dirty="0">
                <a:solidFill>
                  <a:srgbClr val="374151"/>
                </a:solidFill>
              </a:rPr>
              <a:t>Limited Risk — Article 50 transparency rules apply, so the company just needs to tell candidates they are interacting with AI.</a:t>
            </a:r>
            <a:endParaRPr lang="en-US" sz="1150" dirty="0"/>
          </a:p>
        </p:txBody>
      </p:sp>
      <p:sp>
        <p:nvSpPr>
          <p:cNvPr id="18" name="Shape 16"/>
          <p:cNvSpPr/>
          <p:nvPr/>
        </p:nvSpPr>
        <p:spPr>
          <a:xfrm>
            <a:off x="320040" y="3675888"/>
            <a:ext cx="10789920" cy="877824"/>
          </a:xfrm>
          <a:prstGeom prst="roundRect">
            <a:avLst>
              <a:gd name="adj" fmla="val 8333"/>
            </a:avLst>
          </a:prstGeom>
          <a:solidFill>
            <a:srgbClr val="F0FDF4"/>
          </a:solidFill>
          <a:ln w="12700">
            <a:solidFill>
              <a:srgbClr val="16A34A"/>
            </a:solidFill>
            <a:prstDash val="solid"/>
          </a:ln>
        </p:spPr>
      </p:sp>
      <p:sp>
        <p:nvSpPr>
          <p:cNvPr id="19" name="Shape 17"/>
          <p:cNvSpPr/>
          <p:nvPr/>
        </p:nvSpPr>
        <p:spPr>
          <a:xfrm>
            <a:off x="411480" y="3877056"/>
            <a:ext cx="402336" cy="402336"/>
          </a:xfrm>
          <a:prstGeom prst="roundRect">
            <a:avLst>
              <a:gd name="adj" fmla="val 11364"/>
            </a:avLst>
          </a:prstGeom>
          <a:solidFill>
            <a:srgbClr val="16A34A"/>
          </a:solidFill>
          <a:ln w="12700">
            <a:solidFill>
              <a:srgbClr val="16A34A"/>
            </a:solidFill>
            <a:prstDash val="solid"/>
          </a:ln>
        </p:spPr>
      </p:sp>
      <p:sp>
        <p:nvSpPr>
          <p:cNvPr id="20" name="Text 18"/>
          <p:cNvSpPr txBox="1"/>
          <p:nvPr/>
        </p:nvSpPr>
        <p:spPr>
          <a:xfrm>
            <a:off x="411480" y="3895344"/>
            <a:ext cx="402336" cy="365760"/>
          </a:xfrm>
          <a:prstGeom prst="rect">
            <a:avLst/>
          </a:prstGeom>
          <a:noFill/>
          <a:ln/>
        </p:spPr>
        <p:txBody>
          <a:bodyPr wrap="square" lIns="0" tIns="0" rIns="0" bIns="0" rtlCol="0" anchor="ctr"/>
          <a:lstStyle/>
          <a:p>
            <a:pPr algn="ctr" indent="0" marL="0">
              <a:buNone/>
            </a:pPr>
            <a:r>
              <a:rPr lang="en-US" sz="1300" b="1" dirty="0">
                <a:solidFill>
                  <a:srgbClr val="FFFFFF"/>
                </a:solidFill>
              </a:rPr>
              <a:t>C</a:t>
            </a:r>
            <a:endParaRPr lang="en-US" sz="1300" dirty="0"/>
          </a:p>
        </p:txBody>
      </p:sp>
      <p:sp>
        <p:nvSpPr>
          <p:cNvPr id="21" name="Text 19"/>
          <p:cNvSpPr txBox="1"/>
          <p:nvPr/>
        </p:nvSpPr>
        <p:spPr>
          <a:xfrm>
            <a:off x="932688" y="3767328"/>
            <a:ext cx="9829800" cy="694944"/>
          </a:xfrm>
          <a:prstGeom prst="rect">
            <a:avLst/>
          </a:prstGeom>
          <a:noFill/>
          <a:ln/>
        </p:spPr>
        <p:txBody>
          <a:bodyPr wrap="square" lIns="0" tIns="0" rIns="0" bIns="0" rtlCol="0" anchor="ctr"/>
          <a:lstStyle/>
          <a:p>
            <a:pPr indent="0" marL="0">
              <a:lnSpc>
                <a:spcPts val="1500"/>
              </a:lnSpc>
              <a:buNone/>
            </a:pPr>
            <a:r>
              <a:rPr lang="en-US" sz="1150" b="1" dirty="0">
                <a:solidFill>
                  <a:srgbClr val="16A34A"/>
                </a:solidFill>
              </a:rPr>
              <a:t>High Risk under Annex III — employment AI (screening, ranking, profiling workers) is explicitly listed. Full provider obligations apply: risk management, technical documentation, human oversight, conformity assessment. The personality profiling element may also breach Art. 5 if it qualifies as prohibited biometric categorisation.</a:t>
            </a:r>
            <a:endParaRPr lang="en-US" sz="1150" dirty="0"/>
          </a:p>
        </p:txBody>
      </p:sp>
      <p:sp>
        <p:nvSpPr>
          <p:cNvPr id="22" name="Text 20"/>
          <p:cNvSpPr txBox="1"/>
          <p:nvPr/>
        </p:nvSpPr>
        <p:spPr>
          <a:xfrm>
            <a:off x="9875520" y="3950208"/>
            <a:ext cx="1097280" cy="329184"/>
          </a:xfrm>
          <a:prstGeom prst="rect">
            <a:avLst/>
          </a:prstGeom>
          <a:noFill/>
          <a:ln/>
        </p:spPr>
        <p:txBody>
          <a:bodyPr wrap="square" lIns="0" tIns="0" rIns="0" bIns="0" rtlCol="0" anchor="ctr"/>
          <a:lstStyle/>
          <a:p>
            <a:pPr algn="r" indent="0" marL="0">
              <a:buNone/>
            </a:pPr>
            <a:r>
              <a:rPr lang="en-US" sz="1100" b="1" dirty="0">
                <a:solidFill>
                  <a:srgbClr val="16A34A"/>
                </a:solidFill>
              </a:rPr>
              <a:t>✔ CORRECT</a:t>
            </a:r>
            <a:endParaRPr lang="en-US" sz="1100" dirty="0"/>
          </a:p>
        </p:txBody>
      </p:sp>
      <p:sp>
        <p:nvSpPr>
          <p:cNvPr id="23" name="Shape 21"/>
          <p:cNvSpPr/>
          <p:nvPr/>
        </p:nvSpPr>
        <p:spPr>
          <a:xfrm>
            <a:off x="320040" y="4645152"/>
            <a:ext cx="10789920" cy="877824"/>
          </a:xfrm>
          <a:prstGeom prst="roundRect">
            <a:avLst>
              <a:gd name="adj" fmla="val 8333"/>
            </a:avLst>
          </a:prstGeom>
          <a:solidFill>
            <a:srgbClr val="F5F5F5"/>
          </a:solidFill>
          <a:ln w="12700">
            <a:solidFill>
              <a:srgbClr val="D1D5DB"/>
            </a:solidFill>
            <a:prstDash val="solid"/>
          </a:ln>
        </p:spPr>
      </p:sp>
      <p:sp>
        <p:nvSpPr>
          <p:cNvPr id="24" name="Shape 22"/>
          <p:cNvSpPr/>
          <p:nvPr/>
        </p:nvSpPr>
        <p:spPr>
          <a:xfrm>
            <a:off x="411480" y="4846320"/>
            <a:ext cx="402336" cy="402336"/>
          </a:xfrm>
          <a:prstGeom prst="roundRect">
            <a:avLst>
              <a:gd name="adj" fmla="val 11364"/>
            </a:avLst>
          </a:prstGeom>
          <a:solidFill>
            <a:srgbClr val="1F2739"/>
          </a:solidFill>
          <a:ln w="12700">
            <a:solidFill>
              <a:srgbClr val="1F2739"/>
            </a:solidFill>
            <a:prstDash val="solid"/>
          </a:ln>
        </p:spPr>
      </p:sp>
      <p:sp>
        <p:nvSpPr>
          <p:cNvPr id="25" name="Text 23"/>
          <p:cNvSpPr txBox="1"/>
          <p:nvPr/>
        </p:nvSpPr>
        <p:spPr>
          <a:xfrm>
            <a:off x="411480" y="4864608"/>
            <a:ext cx="402336" cy="365760"/>
          </a:xfrm>
          <a:prstGeom prst="rect">
            <a:avLst/>
          </a:prstGeom>
          <a:noFill/>
          <a:ln/>
        </p:spPr>
        <p:txBody>
          <a:bodyPr wrap="square" lIns="0" tIns="0" rIns="0" bIns="0" rtlCol="0" anchor="ctr"/>
          <a:lstStyle/>
          <a:p>
            <a:pPr algn="ctr" indent="0" marL="0">
              <a:buNone/>
            </a:pPr>
            <a:r>
              <a:rPr lang="en-US" sz="1300" b="1" dirty="0">
                <a:solidFill>
                  <a:srgbClr val="FFFFFF"/>
                </a:solidFill>
              </a:rPr>
              <a:t>D</a:t>
            </a:r>
            <a:endParaRPr lang="en-US" sz="1300" dirty="0"/>
          </a:p>
        </p:txBody>
      </p:sp>
      <p:sp>
        <p:nvSpPr>
          <p:cNvPr id="26" name="Text 24"/>
          <p:cNvSpPr txBox="1"/>
          <p:nvPr/>
        </p:nvSpPr>
        <p:spPr>
          <a:xfrm>
            <a:off x="932688" y="4736592"/>
            <a:ext cx="9829800" cy="694944"/>
          </a:xfrm>
          <a:prstGeom prst="rect">
            <a:avLst/>
          </a:prstGeom>
          <a:noFill/>
          <a:ln/>
        </p:spPr>
        <p:txBody>
          <a:bodyPr wrap="square" lIns="0" tIns="0" rIns="0" bIns="0" rtlCol="0" anchor="ctr"/>
          <a:lstStyle/>
          <a:p>
            <a:pPr indent="0" marL="0">
              <a:lnSpc>
                <a:spcPts val="1500"/>
              </a:lnSpc>
              <a:buNone/>
            </a:pPr>
            <a:r>
              <a:rPr lang="en-US" sz="1150" dirty="0">
                <a:solidFill>
                  <a:srgbClr val="374151"/>
                </a:solidFill>
              </a:rPr>
              <a:t>Prohibited outright under Article 5 because any AI that makes employment decisions is banned under the EU AI Act.</a:t>
            </a:r>
            <a:endParaRPr lang="en-US" sz="1150" dirty="0"/>
          </a:p>
        </p:txBody>
      </p:sp>
      <p:sp>
        <p:nvSpPr>
          <p:cNvPr id="27" name="Shape 25"/>
          <p:cNvSpPr/>
          <p:nvPr/>
        </p:nvSpPr>
        <p:spPr>
          <a:xfrm>
            <a:off x="320040" y="5733288"/>
            <a:ext cx="10789920" cy="704088"/>
          </a:xfrm>
          <a:prstGeom prst="roundRect">
            <a:avLst>
              <a:gd name="adj" fmla="val 10390"/>
            </a:avLst>
          </a:prstGeom>
          <a:solidFill>
            <a:srgbClr val="FFFBEB"/>
          </a:solidFill>
          <a:ln w="12700">
            <a:solidFill>
              <a:srgbClr val="D97706"/>
            </a:solidFill>
            <a:prstDash val="solid"/>
          </a:ln>
        </p:spPr>
      </p:sp>
      <p:sp>
        <p:nvSpPr>
          <p:cNvPr id="28" name="Text 26"/>
          <p:cNvSpPr txBox="1"/>
          <p:nvPr/>
        </p:nvSpPr>
        <p:spPr>
          <a:xfrm>
            <a:off x="457200" y="5769864"/>
            <a:ext cx="10515600" cy="621792"/>
          </a:xfrm>
          <a:prstGeom prst="rect">
            <a:avLst/>
          </a:prstGeom>
          <a:noFill/>
          <a:ln/>
        </p:spPr>
        <p:txBody>
          <a:bodyPr wrap="square" lIns="0" tIns="0" rIns="0" bIns="0" rtlCol="0" anchor="ctr"/>
          <a:lstStyle/>
          <a:p>
            <a:pPr indent="0" marL="0">
              <a:lnSpc>
                <a:spcPts val="1400"/>
              </a:lnSpc>
              <a:buNone/>
            </a:pPr>
            <a:r>
              <a:rPr lang="en-US" sz="1050" dirty="0">
                <a:solidFill>
                  <a:srgbClr val="92400E"/>
                </a:solidFill>
              </a:rPr>
              <a:t>Explanation: EU AI Act Annex III explicitly lists AI used in recruitment and selection — CV screening, ranking, profiling workers — as High-Risk (Art. 6(2)). Full Chapter III obligations apply. The personality inference component adds complexity: profiling individuals (automated processing to assess personality traits) always makes an Annex III system High-Risk per Art. 6(2)(b). If the social media analysis infers protected attributes (race, religion, health), Art. 5 biometric categorisation prohibition may also apply.</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F2739"/>
          </a:solidFill>
          <a:ln w="12700">
            <a:solidFill>
              <a:srgbClr val="1F2739"/>
            </a:solidFill>
            <a:prstDash val="solid"/>
          </a:ln>
        </p:spPr>
      </p:sp>
      <p:sp>
        <p:nvSpPr>
          <p:cNvPr id="3" name="Shape 1"/>
          <p:cNvSpPr/>
          <p:nvPr/>
        </p:nvSpPr>
        <p:spPr>
          <a:xfrm>
            <a:off x="0" y="0"/>
            <a:ext cx="594360" cy="6858000"/>
          </a:xfrm>
          <a:prstGeom prst="rect">
            <a:avLst/>
          </a:prstGeom>
          <a:solidFill>
            <a:srgbClr val="E95332"/>
          </a:solidFill>
          <a:ln w="12700">
            <a:solidFill>
              <a:srgbClr val="E95332"/>
            </a:solidFill>
            <a:prstDash val="solid"/>
          </a:ln>
        </p:spPr>
      </p:sp>
      <p:sp>
        <p:nvSpPr>
          <p:cNvPr id="4" name="Text 2"/>
          <p:cNvSpPr txBox="1"/>
          <p:nvPr/>
        </p:nvSpPr>
        <p:spPr>
          <a:xfrm>
            <a:off x="11448288" y="182880"/>
            <a:ext cx="713232" cy="1828800"/>
          </a:xfrm>
          <a:prstGeom prst="rect">
            <a:avLst/>
          </a:prstGeom>
          <a:noFill/>
          <a:ln/>
        </p:spPr>
        <p:txBody>
          <a:bodyPr wrap="square" lIns="0" tIns="0" rIns="0" bIns="0" rtlCol="0" anchor="ctr"/>
          <a:lstStyle/>
          <a:p>
            <a:pPr algn="ctr" indent="0" marL="0">
              <a:buNone/>
            </a:pPr>
            <a:r>
              <a:rPr lang="en-US" sz="1000" b="1" dirty="0">
                <a:solidFill>
                  <a:srgbClr val="E95332"/>
                </a:solidFill>
              </a:rPr>
              <a:t>STA
</a:t>
            </a:r>
            <a:pPr algn="ctr" indent="0" marL="0">
              <a:buNone/>
            </a:pPr>
            <a:r>
              <a:rPr lang="en-US" sz="1000" b="1" dirty="0">
                <a:solidFill>
                  <a:srgbClr val="E95332"/>
                </a:solidFill>
              </a:rPr>
              <a:t>CK
</a:t>
            </a:r>
            <a:pPr algn="ctr" indent="0" marL="0">
              <a:buNone/>
            </a:pPr>
            <a:r>
              <a:rPr lang="en-US" sz="700" b="1" dirty="0">
                <a:solidFill>
                  <a:srgbClr val="E95332"/>
                </a:solidFill>
              </a:rPr>
              <a:t>ROUTE
</a:t>
            </a:r>
            <a:pPr algn="ctr" indent="0" marL="0">
              <a:buNone/>
            </a:pPr>
            <a:r>
              <a:rPr lang="en-US" sz="600" dirty="0">
                <a:solidFill>
                  <a:srgbClr val="FFFFFF"/>
                </a:solidFill>
              </a:rPr>
              <a:t>AN
</a:t>
            </a:r>
            <a:pPr algn="ctr" indent="0" marL="0">
              <a:buNone/>
            </a:pPr>
            <a:r>
              <a:rPr lang="en-US" sz="800" b="1" dirty="0">
                <a:solidFill>
                  <a:srgbClr val="FFFFFF"/>
                </a:solidFill>
              </a:rPr>
              <a:t>NIIT
</a:t>
            </a:r>
            <a:pPr algn="ctr" indent="0" marL="0">
              <a:buNone/>
            </a:pPr>
            <a:r>
              <a:rPr lang="en-US" sz="500" dirty="0">
                <a:solidFill>
                  <a:srgbClr val="FFFFFF"/>
                </a:solidFill>
              </a:rPr>
              <a:t>VENTURE</a:t>
            </a:r>
            <a:endParaRPr lang="en-US" sz="1000" dirty="0"/>
          </a:p>
        </p:txBody>
      </p:sp>
      <p:sp>
        <p:nvSpPr>
          <p:cNvPr id="5" name="Text 3"/>
          <p:cNvSpPr txBox="1"/>
          <p:nvPr/>
        </p:nvSpPr>
        <p:spPr>
          <a:xfrm>
            <a:off x="914400" y="2194560"/>
            <a:ext cx="10058400" cy="914400"/>
          </a:xfrm>
          <a:prstGeom prst="rect">
            <a:avLst/>
          </a:prstGeom>
          <a:noFill/>
          <a:ln/>
        </p:spPr>
        <p:txBody>
          <a:bodyPr wrap="square" rtlCol="0" anchor="ctr"/>
          <a:lstStyle/>
          <a:p>
            <a:pPr algn="ctr" indent="0" marL="0">
              <a:buNone/>
            </a:pPr>
            <a:r>
              <a:rPr lang="en-US" sz="5200" b="1" dirty="0">
                <a:solidFill>
                  <a:srgbClr val="FFFFFF"/>
                </a:solidFill>
                <a:latin typeface="Candara" pitchFamily="34" charset="0"/>
                <a:ea typeface="Candara" pitchFamily="34" charset="-122"/>
                <a:cs typeface="Candara" pitchFamily="34" charset="-120"/>
              </a:rPr>
              <a:t>Thank You</a:t>
            </a:r>
            <a:endParaRPr lang="en-US" sz="5200" dirty="0"/>
          </a:p>
        </p:txBody>
      </p:sp>
      <p:sp>
        <p:nvSpPr>
          <p:cNvPr id="6" name="Shape 4"/>
          <p:cNvSpPr/>
          <p:nvPr/>
        </p:nvSpPr>
        <p:spPr>
          <a:xfrm>
            <a:off x="2286000" y="3246120"/>
            <a:ext cx="7616952" cy="0"/>
          </a:xfrm>
          <a:prstGeom prst="line">
            <a:avLst/>
          </a:prstGeom>
          <a:noFill/>
          <a:ln w="12700">
            <a:solidFill>
              <a:srgbClr val="E95332"/>
            </a:solidFill>
            <a:prstDash val="solid"/>
          </a:ln>
        </p:spPr>
      </p:sp>
      <p:sp>
        <p:nvSpPr>
          <p:cNvPr id="7" name="Text 5"/>
          <p:cNvSpPr txBox="1"/>
          <p:nvPr/>
        </p:nvSpPr>
        <p:spPr>
          <a:xfrm>
            <a:off x="914400" y="3401568"/>
            <a:ext cx="10058400" cy="384048"/>
          </a:xfrm>
          <a:prstGeom prst="rect">
            <a:avLst/>
          </a:prstGeom>
          <a:noFill/>
          <a:ln/>
        </p:spPr>
        <p:txBody>
          <a:bodyPr wrap="square" rtlCol="0" anchor="ctr"/>
          <a:lstStyle/>
          <a:p>
            <a:pPr algn="ctr" indent="0" marL="0">
              <a:buNone/>
            </a:pPr>
            <a:r>
              <a:rPr lang="en-US" sz="1500" dirty="0">
                <a:solidFill>
                  <a:srgbClr val="E95332"/>
                </a:solidFill>
              </a:rPr>
              <a:t>artificialintelligenceact.eu  ·  atlas.mitre.org</a:t>
            </a:r>
            <a:endParaRPr lang="en-US" sz="1500" dirty="0"/>
          </a:p>
        </p:txBody>
      </p:sp>
      <p:sp>
        <p:nvSpPr>
          <p:cNvPr id="8" name="Text 6"/>
          <p:cNvSpPr txBox="1"/>
          <p:nvPr/>
        </p:nvSpPr>
        <p:spPr>
          <a:xfrm>
            <a:off x="914400" y="6309360"/>
            <a:ext cx="10058400" cy="274320"/>
          </a:xfrm>
          <a:prstGeom prst="rect">
            <a:avLst/>
          </a:prstGeom>
          <a:noFill/>
          <a:ln/>
        </p:spPr>
        <p:txBody>
          <a:bodyPr wrap="square" rtlCol="0" anchor="ctr"/>
          <a:lstStyle/>
          <a:p>
            <a:pPr algn="ctr" indent="0" marL="0">
              <a:buNone/>
            </a:pPr>
            <a:r>
              <a:rPr lang="en-US" sz="900" dirty="0">
                <a:solidFill>
                  <a:srgbClr val="8B949E"/>
                </a:solidFill>
              </a:rPr>
              <a:t>© NIIT-StackRoute 2025-2026  ·  AI &amp; SEO Automation Mastery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AI Act + MITRE ATLAS — Concept Deck</dc:title>
  <dc:subject>PptxGenJS Presentation</dc:subject>
  <dc:creator>PptxGenJS</dc:creator>
  <cp:lastModifiedBy>PptxGenJS</cp:lastModifiedBy>
  <cp:revision>1</cp:revision>
  <dcterms:created xsi:type="dcterms:W3CDTF">2026-10-14T17:33:06Z</dcterms:created>
  <dcterms:modified xsi:type="dcterms:W3CDTF">2026-10-14T17:33:06Z</dcterms:modified>
</cp:coreProperties>
</file>